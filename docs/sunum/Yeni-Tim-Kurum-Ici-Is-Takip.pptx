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w1"/>
          <p:cNvSpPr/>
          <p:nvPr/>
        </p:nvSpPr>
        <p:spPr>
          <a:xfrm>
            <a:off x="7863840" y="-2011680"/>
            <a:ext cx="6858000" cy="6858000"/>
          </a:xfrm>
          <a:prstGeom prst="ellipse">
            <a:avLst/>
          </a:prstGeom>
          <a:solidFill>
            <a:srgbClr val="3B82F6">
              <a:alpha val="18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" name="Glow2"/>
          <p:cNvSpPr/>
          <p:nvPr/>
        </p:nvSpPr>
        <p:spPr>
          <a:xfrm>
            <a:off x="9692640" y="3291840"/>
            <a:ext cx="5029200" cy="5029200"/>
          </a:xfrm>
          <a:prstGeom prst="ellipse">
            <a:avLst/>
          </a:prstGeom>
          <a:solidFill>
            <a:srgbClr val="2F6DB5">
              <a:alpha val="15000"/>
            </a:srgbClr>
          </a:solidFill>
          <a:ln w="12700">
            <a:solidFill>
              <a:srgbClr val="2F6DB5">
                <a:alpha val="0"/>
              </a:srgbClr>
            </a:solidFill>
            <a:prstDash val="solid"/>
          </a:ln>
        </p:spPr>
      </p:sp>
      <p:pic>
        <p:nvPicPr>
          <p:cNvPr id="4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DBBFF"/>
                </a:solidFill>
              </a:rPr>
              <a:t>KURUM İÇİ MODÜL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Kurum İçi İş Takip Sistemi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Birim içi ve birimler arası talepleri, görev atamalarını, onay süreçlerini ve rutin işleri tek dijital akışta yönetin.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C0"/>
                </a:solidFill>
              </a:rPr>
              <a:t>Yeni Tim İletişim Merkezi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C0"/>
                </a:solidFill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DBBFF"/>
                </a:solidFill>
              </a:rPr>
              <a:t>NEDEN ÖNEMLI?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Kâğıt ve dağınık yazışmanın yerine tek, izlenebilir süreç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8DBBFF"/>
                </a:solidFill>
              </a:rPr>
              <a:t>2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Talep türü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Birim içi iş başlatın veya işi başka bir birime yönlendirin.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81578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55898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8DBBFF"/>
                </a:solidFill>
              </a:rPr>
              <a:t>3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3755898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Adımlı onay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755898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Talep → birim onayı → görev ataması; her adım kayıtlı.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1636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05956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8DBBFF"/>
                </a:solidFill>
              </a:rPr>
              <a:t>Canlı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6505956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Anlık takip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505956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Bildirimler, canlı özet ve izleme ekranıyla süreç şeffaf.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81694" y="3108960"/>
            <a:ext cx="2475738" cy="2651760"/>
          </a:xfrm>
          <a:prstGeom prst="roundRect">
            <a:avLst>
              <a:gd name="adj" fmla="val 5171"/>
            </a:avLst>
          </a:prstGeom>
          <a:solidFill>
            <a:srgbClr val="12345A"/>
          </a:solidFill>
          <a:ln w="9525">
            <a:solidFill>
              <a:srgbClr val="2450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56014" y="3291840"/>
            <a:ext cx="192709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0" b="1" dirty="0">
                <a:solidFill>
                  <a:srgbClr val="8DBBFF"/>
                </a:solidFill>
              </a:rPr>
              <a:t>SLA</a:t>
            </a:r>
            <a:endParaRPr lang="en-US" sz="6000" dirty="0"/>
          </a:p>
        </p:txBody>
      </p:sp>
      <p:sp>
        <p:nvSpPr>
          <p:cNvPr id="20" name="Text 18"/>
          <p:cNvSpPr txBox="1"/>
          <p:nvPr/>
        </p:nvSpPr>
        <p:spPr>
          <a:xfrm>
            <a:off x="9256014" y="4434840"/>
            <a:ext cx="192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Süre yönetimi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256014" y="4846320"/>
            <a:ext cx="19270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BE0"/>
                </a:solidFill>
              </a:rPr>
              <a:t>Son tarih ve geciken işler otomatik hesaplanır, renkle vurgulanır.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3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GENEL GÖRÜNÜM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Yönetici anasayfası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Birim yöneticisi, bekleyen talepleri, görevleri ve personelinin iş yükünü canlı grafiklerle izler.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Birime gelen / giden talep durumları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Personel bazlı görev dağılımı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Geciken işler ve öncelik kırılımı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Yönetici anasayfası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TALEP OLUŞTURMA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İki tür talep, iki net form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Birim içi tale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 içi talep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Kendi biriminizde görevi yapacak kişiyi seçerek iş başlatın.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Birim dışı tale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 dışı talep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Hedef birimi seçin; talep o birimin yöneticisine onaya düşer.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İş kendi birimimizde mi yürüyecek, yoksa başka bir birimden mi destek istenecek?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5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BIRIMLER ARASI AKIŞ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Birime gelen talepler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Yönetici, birimine yönlendirilen talepleri onaylar, iade eder veya personele atar.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Onay bekleyen / yapılmakta / geciken filtreleri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Tek tıkla Onayla veya İptal Et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Yeni talepler “YENİ” etiketiyle öne çıkar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Birime gelen talep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6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TALEP DETAYI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Tüm bilgi tek pencerede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Talep bilgisi, süreç adımları, adres ve ekler aynı detay penceresinde; yazdırma ve düzenleme dahil.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Süreç zaman çizelgesi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Personele atama ve son tarih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Yazdır / düzenle / iptal et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Tüm bilgi tek pencere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TAKIP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Açtığım ve gönderdiğim talepler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Talepleri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Taleplerim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Oluşturduğunuz talepler ve güncel durumları.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Birimden giden talepl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Birimden giden talepler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Birimin diğer birimlere gönderdiği taleplerin takibi.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Talep sahibi, oluşturduğu işlerin hangi aşamada olduğunu her an görür.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8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GÖREV YÖNETIMI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Görevleri birim düzeyinde izleyin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Onaylanan talepler görevlere dönüşür, personele atanır ve tamamlanana kadar izlenir.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Atanan, yapılmakta, tamamlanan filtreleri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Rutin ve talep kaynaklı görevler birlikte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Görevi yapan ve son tarih görünür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Görevleri birim düzeyinde izley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9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GÖREV DETAYI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Görev süreci şeffaf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Görev tarihi, durumu, son tarihi ve değişiklik geçmişi görev penceresinde izlenir.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Tamamla, iptal et, yönlendir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Sonuç notu ve ek dosyalar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Düzenleme geçmişi kaydı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Görev süreci şeffa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PERSONEL YÖNETIMI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Personelimin görevleri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Yönetici, ekibindeki herkesin görevlerini ve ilerleme durumunu tek listede görür.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Personel bazlı filtre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Atanma / yapılmakta durumları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Geciken görev uyarıları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Personelimin görevler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11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RUTIN IŞLER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Rutin görev oluşturma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Bir talebe bağlı olmayan periyodik bakım, günlük kontrol gibi işler onay gerektirmeden sisteme girilir.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Şablon mesajlarla hızlı açıklama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Öncelik ve bitiş tarihi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Adres ve ek dosya desteği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Rutin görev oluştur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12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OPERASYON ODASI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İzleme ekranı (Wallboard)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Büyük ekranda gösterilebilecek, kurumun genel talep ve görev durumunu canlı özetleyen görünüm.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Otomatik yenilenen liste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Bekleyen, birim içi, birim dışı, geciken sayaçları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Yeni sekmede tam ekran açılır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İzleme ekranı (Wallboard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13</a:t>
            </a:r>
            <a:endParaRPr lang="en-US" sz="1000" dirty="0"/>
          </a:p>
        </p:txBody>
      </p:sp>
      <p:sp>
        <p:nvSpPr>
          <p:cNvPr id="4" name="IconBadge"/>
          <p:cNvSpPr/>
          <p:nvPr/>
        </p:nvSpPr>
        <p:spPr>
          <a:xfrm>
            <a:off x="640080" y="6858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8138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31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ANLIK ILETIŞIM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Kurum içi mesajlaşma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Personel, vatandaş kanallarından bağımsız, hızlı yazışma için dahili mesaj panelini kullanır.</a:t>
            </a:r>
            <a:endParaRPr lang="en-US" sz="1500" dirty="0"/>
          </a:p>
        </p:txBody>
      </p:sp>
      <p:sp>
        <p:nvSpPr>
          <p:cNvPr id="9" name="Dot"/>
          <p:cNvSpPr/>
          <p:nvPr/>
        </p:nvSpPr>
        <p:spPr>
          <a:xfrm>
            <a:off x="658368" y="42793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32688" y="41879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Kişi arama ve okunmamış rozeti</a:t>
            </a:r>
            <a:endParaRPr lang="en-US" sz="1400" dirty="0"/>
          </a:p>
        </p:txBody>
      </p:sp>
      <p:sp>
        <p:nvSpPr>
          <p:cNvPr id="11" name="Dot"/>
          <p:cNvSpPr/>
          <p:nvPr/>
        </p:nvSpPr>
        <p:spPr>
          <a:xfrm>
            <a:off x="658368" y="47365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32688" y="46451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Yazıyor göstergesi</a:t>
            </a:r>
            <a:endParaRPr lang="en-US" sz="1400" dirty="0"/>
          </a:p>
        </p:txBody>
      </p:sp>
      <p:sp>
        <p:nvSpPr>
          <p:cNvPr id="13" name="Dot"/>
          <p:cNvSpPr/>
          <p:nvPr/>
        </p:nvSpPr>
        <p:spPr>
          <a:xfrm>
            <a:off x="658368" y="5193792"/>
            <a:ext cx="128016" cy="128016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2688" y="510235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63D"/>
                </a:solidFill>
              </a:rPr>
              <a:t>Her sayfadan erişilen panel</a:t>
            </a:r>
            <a:endParaRPr lang="en-US" sz="1400" dirty="0"/>
          </a:p>
        </p:txBody>
      </p:sp>
      <p:sp>
        <p:nvSpPr>
          <p:cNvPr id="15" name="ShotFrame"/>
          <p:cNvSpPr/>
          <p:nvPr/>
        </p:nvSpPr>
        <p:spPr>
          <a:xfrm>
            <a:off x="5166360" y="1354455"/>
            <a:ext cx="6583680" cy="3783330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77800" dist="50800" dir="5400000">
              <a:srgbClr val="0B2540">
                <a:alpha val="18000"/>
              </a:srgbClr>
            </a:outerShdw>
          </a:effectLst>
        </p:spPr>
      </p:sp>
      <p:pic>
        <p:nvPicPr>
          <p:cNvPr id="16" name="Screenshot" descr="Kurum içi mesajlaş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445895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SÜREÇ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4263D"/>
                </a:solidFill>
              </a:rPr>
              <a:t>Bir iç talebin yaşam döngüsü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F"/>
                </a:solidFill>
              </a:rPr>
              <a:t>Talepten kapanışa kadar her adım kullanıcı, tarih ve not ile kayıt altında.</a:t>
            </a:r>
            <a:endParaRPr lang="en-US" sz="1600" dirty="0"/>
          </a:p>
        </p:txBody>
      </p:sp>
      <p:sp>
        <p:nvSpPr>
          <p:cNvPr id="7" name="Step"/>
          <p:cNvSpPr/>
          <p:nvPr/>
        </p:nvSpPr>
        <p:spPr>
          <a:xfrm>
            <a:off x="640080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88136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016" y="25603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Talep açılır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Birim içi veya birim dışı talep oluşturulur.</a:t>
            </a:r>
            <a:endParaRPr lang="en-US" sz="1350" dirty="0"/>
          </a:p>
        </p:txBody>
      </p:sp>
      <p:sp>
        <p:nvSpPr>
          <p:cNvPr id="13" name="Step"/>
          <p:cNvSpPr/>
          <p:nvPr/>
        </p:nvSpPr>
        <p:spPr>
          <a:xfrm>
            <a:off x="2496312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44368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56032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633472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2606040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Birim onaylar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2633472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Hedef birim yöneticisi onaylar ya da iade eder.</a:t>
            </a:r>
            <a:endParaRPr lang="en-US" sz="1350" dirty="0"/>
          </a:p>
        </p:txBody>
      </p:sp>
      <p:sp>
        <p:nvSpPr>
          <p:cNvPr id="19" name="Step"/>
          <p:cNvSpPr/>
          <p:nvPr/>
        </p:nvSpPr>
        <p:spPr>
          <a:xfrm>
            <a:off x="4352544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00600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6032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489704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462272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Personele atanır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4489704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Talep görev olarak personele verilir.</a:t>
            </a:r>
            <a:endParaRPr lang="en-US" sz="1350" dirty="0"/>
          </a:p>
        </p:txBody>
      </p:sp>
      <p:sp>
        <p:nvSpPr>
          <p:cNvPr id="25" name="Step"/>
          <p:cNvSpPr/>
          <p:nvPr/>
        </p:nvSpPr>
        <p:spPr>
          <a:xfrm>
            <a:off x="6208776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56832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256032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45936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318504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Yapılır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6345936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Personel ilerleme yüzdesini günceller.</a:t>
            </a:r>
            <a:endParaRPr lang="en-US" sz="1350" dirty="0"/>
          </a:p>
        </p:txBody>
      </p:sp>
      <p:sp>
        <p:nvSpPr>
          <p:cNvPr id="31" name="Step"/>
          <p:cNvSpPr/>
          <p:nvPr/>
        </p:nvSpPr>
        <p:spPr>
          <a:xfrm>
            <a:off x="8065008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8513064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4" y="256032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8202168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8174736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Kapanış onayı</a:t>
            </a:r>
            <a:endParaRPr lang="en-US" sz="1600" dirty="0"/>
          </a:p>
        </p:txBody>
      </p:sp>
      <p:sp>
        <p:nvSpPr>
          <p:cNvPr id="36" name="Text 29"/>
          <p:cNvSpPr txBox="1"/>
          <p:nvPr/>
        </p:nvSpPr>
        <p:spPr>
          <a:xfrm>
            <a:off x="8202168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Sonuç notu girilir, yönetici kapanışı onaylar.</a:t>
            </a:r>
            <a:endParaRPr lang="en-US" sz="1350" dirty="0"/>
          </a:p>
        </p:txBody>
      </p:sp>
      <p:sp>
        <p:nvSpPr>
          <p:cNvPr id="37" name="Step"/>
          <p:cNvSpPr/>
          <p:nvPr/>
        </p:nvSpPr>
        <p:spPr>
          <a:xfrm>
            <a:off x="9921240" y="2743200"/>
            <a:ext cx="1627632" cy="265176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2540">
                <a:alpha val="10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10369296" y="2377440"/>
            <a:ext cx="731520" cy="731520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3F6FA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2176" y="2560320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005840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B7F"/>
                </a:solidFill>
              </a:rPr>
              <a:t>6</a:t>
            </a:r>
            <a:endParaRPr lang="en-US" sz="1200" dirty="0"/>
          </a:p>
        </p:txBody>
      </p:sp>
      <p:sp>
        <p:nvSpPr>
          <p:cNvPr id="41" name="Text 33"/>
          <p:cNvSpPr txBox="1"/>
          <p:nvPr/>
        </p:nvSpPr>
        <p:spPr>
          <a:xfrm>
            <a:off x="10030968" y="3246120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63D"/>
                </a:solidFill>
              </a:rPr>
              <a:t>Bildirim</a:t>
            </a:r>
            <a:endParaRPr lang="en-US" sz="1600" dirty="0"/>
          </a:p>
        </p:txBody>
      </p:sp>
      <p:sp>
        <p:nvSpPr>
          <p:cNvPr id="42" name="Text 34"/>
          <p:cNvSpPr txBox="1"/>
          <p:nvPr/>
        </p:nvSpPr>
        <p:spPr>
          <a:xfrm>
            <a:off x="10058400" y="3977640"/>
            <a:ext cx="13533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B7F"/>
                </a:solidFill>
              </a:rPr>
              <a:t>Talep sahibi anlık bildirimle haberdar edilir.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Yeni Tim · Kurum İçi İş Takip Sistemi</a:t>
            </a:r>
            <a:endParaRPr lang="en-US" sz="1000" dirty="0"/>
          </a:p>
        </p:txBody>
      </p:sp>
      <p:sp>
        <p:nvSpPr>
          <p:cNvPr id="3" name="SlideNo"/>
          <p:cNvSpPr txBox="1"/>
          <p:nvPr/>
        </p:nvSpPr>
        <p:spPr>
          <a:xfrm>
            <a:off x="1106424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F"/>
                </a:solidFill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5720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5852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B82F6"/>
                </a:solidFill>
              </a:rPr>
              <a:t>YÖNETIM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0972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63D"/>
                </a:solidFill>
              </a:rPr>
              <a:t>Birim ve kullanıcı yönetimi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56692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9" name="Image 1" descr="Birim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0280"/>
            <a:ext cx="5349240" cy="30089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Birimler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Müdürlükler, sorumlu yöneticiler ve hiyerarşi.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90488" y="2167128"/>
            <a:ext cx="5495544" cy="3155252"/>
          </a:xfrm>
          <a:prstGeom prst="roundRect">
            <a:avLst>
              <a:gd name="adj" fmla="val 2898"/>
            </a:avLst>
          </a:prstGeom>
          <a:solidFill>
            <a:srgbClr val="FFFFFF"/>
          </a:solidFill>
          <a:ln w="9525">
            <a:solidFill>
              <a:srgbClr val="D5DFEB"/>
            </a:solidFill>
            <a:prstDash val="solid"/>
          </a:ln>
          <a:effectLst>
            <a:outerShdw sx="100000" sy="100000" kx="0" ky="0" algn="bl" rotWithShape="0" blurRad="152400" dist="38100" dir="5400000">
              <a:srgbClr val="0B2540">
                <a:alpha val="16000"/>
              </a:srgbClr>
            </a:outerShdw>
          </a:effectLst>
        </p:spPr>
      </p:sp>
      <p:pic>
        <p:nvPicPr>
          <p:cNvPr id="13" name="Image 2" descr="Kullanıcı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240280"/>
            <a:ext cx="5349240" cy="30089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263640" y="545039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63D"/>
                </a:solidFill>
              </a:rPr>
              <a:t>Kullanıcılar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63640" y="577958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F"/>
                </a:solidFill>
              </a:rPr>
              <a:t>Rol, birim ve kaynak (yerel / LDAP) bilgileriyle kullanıcı listesi.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F"/>
                </a:solidFill>
              </a:rPr>
              <a:t>Kurum organizasyon yapısı uygulama üzerinden yönetilir.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474720"/>
            <a:ext cx="6400800" cy="6400800"/>
          </a:xfrm>
          <a:prstGeom prst="ellipse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3" name="Logo" descr="Lumespe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31520"/>
            <a:ext cx="2194560" cy="4661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1945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Birlikte başlayalım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38328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9CBE0"/>
                </a:solidFill>
              </a:rPr>
              <a:t>Kurumunuza en uygun modül kombinasyonunu belirleyelim ve canlı bir demo ile sistemi birlikte gezelim.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8463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İletişim: destek@lumespec.com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Yeni Tim">
  <a:themeElements>
    <a:clrScheme name="Yeni Tim">
      <a:dk1>
        <a:srgbClr val="14263D"/>
      </a:dk1>
      <a:lt1>
        <a:srgbClr val="FFFFFF"/>
      </a:lt1>
      <a:dk2>
        <a:srgbClr val="0B2540"/>
      </a:dk2>
      <a:lt2>
        <a:srgbClr val="F3F6FA"/>
      </a:lt2>
      <a:accent1>
        <a:srgbClr val="2F6DB5"/>
      </a:accent1>
      <a:accent2>
        <a:srgbClr val="12A37A"/>
      </a:accent2>
      <a:accent3>
        <a:srgbClr val="3B82F6"/>
      </a:accent3>
      <a:accent4>
        <a:srgbClr val="F59E0B"/>
      </a:accent4>
      <a:accent5>
        <a:srgbClr val="5B6B7F"/>
      </a:accent5>
      <a:accent6>
        <a:srgbClr val="DCEBFA"/>
      </a:accent6>
      <a:hlink>
        <a:srgbClr val="2F6DB5"/>
      </a:hlink>
      <a:folHlink>
        <a:srgbClr val="5B6B7F"/>
      </a:folHlink>
    </a:clrScheme>
    <a:fontScheme name="Yeni Tim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Lumespec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Kurum İçi İş Takip Sistemi</dc:title>
  <dc:subject>PptxGenJS Presentation</dc:subject>
  <dc:creator>Lumespec</dc:creator>
  <cp:lastModifiedBy>Lumespec</cp:lastModifiedBy>
  <cp:revision>1</cp:revision>
  <dcterms:created xsi:type="dcterms:W3CDTF">2026-10-02T18:02:15Z</dcterms:created>
  <dcterms:modified xsi:type="dcterms:W3CDTF">2026-10-02T18:02:15Z</dcterms:modified>
</cp:coreProperties>
</file>