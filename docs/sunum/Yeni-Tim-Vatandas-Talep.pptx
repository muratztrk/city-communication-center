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1"/>
          <p:cNvSpPr/>
          <p:nvPr/>
        </p:nvSpPr>
        <p:spPr>
          <a:xfrm>
            <a:off x="7863840" y="-2011680"/>
            <a:ext cx="6858000" cy="6858000"/>
          </a:xfrm>
          <a:prstGeom prst="ellipse">
            <a:avLst/>
          </a:prstGeom>
          <a:solidFill>
            <a:srgbClr val="12A37A">
              <a:alpha val="18000"/>
            </a:srgbClr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3" name="Glow2"/>
          <p:cNvSpPr/>
          <p:nvPr/>
        </p:nvSpPr>
        <p:spPr>
          <a:xfrm>
            <a:off x="9692640" y="3291840"/>
            <a:ext cx="5029200" cy="5029200"/>
          </a:xfrm>
          <a:prstGeom prst="ellipse">
            <a:avLst/>
          </a:prstGeom>
          <a:solidFill>
            <a:srgbClr val="2F6DB5">
              <a:alpha val="15000"/>
            </a:srgbClr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4" name="Logo" descr="Lumespe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2194560" cy="4661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C0"/>
                </a:solidFill>
              </a:rPr>
              <a:t>VATANDAŞ MODÜLÜ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6060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Vatandaş İş Takip Sistemi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9CBE0"/>
                </a:solidFill>
              </a:rPr>
              <a:t>Sosyal medya, WhatsApp, e-posta, web formu ve çağrı merkezinden gelen tüm vatandaş taleplerini tek ekranda toplayın, yönlendirin ve sonuçlandırın.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Yeni Tim İletişim Merkezi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0"/>
                </a:solidFill>
              </a:rPr>
              <a:t>Yeni Tim · Vatandaş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0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C0"/>
                </a:solidFill>
              </a:rPr>
              <a:t>NEDEN ÖNEMLI?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Vatandaşla her temas, takip edilebilir bir kayda dönüşür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475738" cy="2651760"/>
          </a:xfrm>
          <a:prstGeom prst="roundRect">
            <a:avLst>
              <a:gd name="adj" fmla="val 5171"/>
            </a:avLst>
          </a:prstGeom>
          <a:solidFill>
            <a:srgbClr val="12345A"/>
          </a:solidFill>
          <a:ln w="9525">
            <a:solidFill>
              <a:srgbClr val="2450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291840"/>
            <a:ext cx="192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5EEAC0"/>
                </a:solidFill>
              </a:rPr>
              <a:t>7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434840"/>
            <a:ext cx="192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Kanal, tek liste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846320"/>
            <a:ext cx="192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BE0"/>
                </a:solidFill>
              </a:rPr>
              <a:t>Facebook, Instagram, X, E-posta, Web Formu, WhatsApp ve telefon aynı ekranda.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81578" y="3108960"/>
            <a:ext cx="2475738" cy="2651760"/>
          </a:xfrm>
          <a:prstGeom prst="roundRect">
            <a:avLst>
              <a:gd name="adj" fmla="val 5171"/>
            </a:avLst>
          </a:prstGeom>
          <a:solidFill>
            <a:srgbClr val="12345A"/>
          </a:solidFill>
          <a:ln w="9525">
            <a:solidFill>
              <a:srgbClr val="2450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5898" y="3291840"/>
            <a:ext cx="192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5EEAC0"/>
                </a:solidFill>
              </a:rPr>
              <a:t>%100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3755898" y="4434840"/>
            <a:ext cx="192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Onaylı iletişim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755898" y="4846320"/>
            <a:ext cx="192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BE0"/>
                </a:solidFill>
              </a:rPr>
              <a:t>Vatandaşa giden her SMS ve mesaj, gönderilmeden önce yetkili onayından geçer.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1636" y="3108960"/>
            <a:ext cx="2475738" cy="2651760"/>
          </a:xfrm>
          <a:prstGeom prst="roundRect">
            <a:avLst>
              <a:gd name="adj" fmla="val 5171"/>
            </a:avLst>
          </a:prstGeom>
          <a:solidFill>
            <a:srgbClr val="12345A"/>
          </a:solidFill>
          <a:ln w="9525">
            <a:solidFill>
              <a:srgbClr val="24507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5956" y="3291840"/>
            <a:ext cx="192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5EEAC0"/>
                </a:solidFill>
              </a:rPr>
              <a:t>SLA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505956" y="4434840"/>
            <a:ext cx="192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Otomatik süre takibi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05956" y="4846320"/>
            <a:ext cx="192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BE0"/>
                </a:solidFill>
              </a:rPr>
              <a:t>Her talep hedef yanıt süresine göre izlenir; geciken kayıtlar renkle vurgulanır.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81694" y="3108960"/>
            <a:ext cx="2475738" cy="2651760"/>
          </a:xfrm>
          <a:prstGeom prst="roundRect">
            <a:avLst>
              <a:gd name="adj" fmla="val 5171"/>
            </a:avLst>
          </a:prstGeom>
          <a:solidFill>
            <a:srgbClr val="12345A"/>
          </a:solidFill>
          <a:ln w="9525">
            <a:solidFill>
              <a:srgbClr val="24507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56014" y="3291840"/>
            <a:ext cx="192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5EEAC0"/>
                </a:solidFill>
              </a:rPr>
              <a:t>1</a:t>
            </a:r>
            <a:endParaRPr lang="en-US" sz="6000" dirty="0"/>
          </a:p>
        </p:txBody>
      </p:sp>
      <p:sp>
        <p:nvSpPr>
          <p:cNvPr id="20" name="Text 18"/>
          <p:cNvSpPr txBox="1"/>
          <p:nvPr/>
        </p:nvSpPr>
        <p:spPr>
          <a:xfrm>
            <a:off x="9256014" y="4434840"/>
            <a:ext cx="192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Ortak vatandaş kartı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256014" y="4846320"/>
            <a:ext cx="192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BE0"/>
                </a:solidFill>
              </a:rPr>
              <a:t>Geçmiş başvurular ve iletişim bilgileri telefon ile eşleşen kartta toplanır.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Vatandaş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37A"/>
                </a:solidFill>
              </a:rPr>
              <a:t>GENEL GÖRÜNÜM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Vatandaş Paneli: canlı özet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Operatör, gelen taleplerin durumunu, mahalle ve kanal dağılımını açılışta tek bakışta görür.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Dönem filtresiyle günlük–yıllık özet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Mahalle bazlı yoğunluk grafikleri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Kanal ve etiket dağılımı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Vatandaş Paneli: canlı öz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Vatandaş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37A"/>
                </a:solidFill>
              </a:rPr>
              <a:t>TEK NOKTADAN ÇOKLU KANAL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Tüm kanallar aynı listede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Sosyal medya, e-posta, web formu ve WhatsApp mesajları gelen talepler listesinde toplanır.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Kanal ikonu ve talep numarası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Durum, etiket ve birim bilgisi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Arama, tarih ve kolon filtreleri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Tüm kanallar aynı liste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Vatandaş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37A"/>
                </a:solidFill>
              </a:rPr>
              <a:t>DESTEKLENEN KANALLAR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263D"/>
                </a:solidFill>
              </a:rPr>
              <a:t>Vatandaş nerede, belediye orada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</a:rPr>
              <a:t>Her kanaldan gelen mesaj aynı kurallarla işlenir.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40080" y="2377440"/>
            <a:ext cx="2521458" cy="1760220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D9F3EA"/>
          </a:solidFill>
          <a:ln w="12700">
            <a:solidFill>
              <a:srgbClr val="D9F3EA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79806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265176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Facebook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337560"/>
            <a:ext cx="19728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Sayfa mesajları ve yorumlar talebe dönüşür.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3435858" y="2377440"/>
            <a:ext cx="2521458" cy="1760220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10178" y="2651760"/>
            <a:ext cx="548640" cy="548640"/>
          </a:xfrm>
          <a:prstGeom prst="ellipse">
            <a:avLst/>
          </a:prstGeom>
          <a:solidFill>
            <a:srgbClr val="D9F3EA"/>
          </a:solidFill>
          <a:ln w="12700">
            <a:solidFill>
              <a:srgbClr val="D9F3EA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482" y="279806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95978" y="265176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Instagram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710178" y="3337560"/>
            <a:ext cx="19728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Mesaj ve etiketlemeler tek akışta.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6231636" y="2377440"/>
            <a:ext cx="2521458" cy="1760220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05956" y="2651760"/>
            <a:ext cx="548640" cy="548640"/>
          </a:xfrm>
          <a:prstGeom prst="ellipse">
            <a:avLst/>
          </a:prstGeom>
          <a:solidFill>
            <a:srgbClr val="D9F3EA"/>
          </a:solidFill>
          <a:ln w="12700">
            <a:solidFill>
              <a:srgbClr val="D9F3EA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27980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191756" y="265176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X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505956" y="3337560"/>
            <a:ext cx="19728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Mention ve doğrudan mesajlar takip edilir.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9027414" y="2377440"/>
            <a:ext cx="2521458" cy="1760220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01734" y="2651760"/>
            <a:ext cx="548640" cy="548640"/>
          </a:xfrm>
          <a:prstGeom prst="ellipse">
            <a:avLst/>
          </a:prstGeom>
          <a:solidFill>
            <a:srgbClr val="D9F3EA"/>
          </a:solidFill>
          <a:ln w="12700">
            <a:solidFill>
              <a:srgbClr val="D9F3EA">
                <a:alpha val="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038" y="279806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987534" y="265176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WhatsApp Business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301734" y="3337560"/>
            <a:ext cx="19728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Konuşmalar uygulama içinden yürütülür.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640080" y="4411980"/>
            <a:ext cx="2521458" cy="1760220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14400" y="4686300"/>
            <a:ext cx="548640" cy="548640"/>
          </a:xfrm>
          <a:prstGeom prst="ellipse">
            <a:avLst/>
          </a:prstGeom>
          <a:solidFill>
            <a:srgbClr val="D9F3EA"/>
          </a:solidFill>
          <a:ln w="12700">
            <a:solidFill>
              <a:srgbClr val="D9F3EA">
                <a:alpha val="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832604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600200" y="468630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E-posta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14400" y="5372100"/>
            <a:ext cx="19728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Gelen kutusu talepleri listeye düşer.</a:t>
            </a:r>
            <a:endParaRPr lang="en-US" sz="1300" dirty="0"/>
          </a:p>
        </p:txBody>
      </p:sp>
      <p:sp>
        <p:nvSpPr>
          <p:cNvPr id="32" name="Card"/>
          <p:cNvSpPr/>
          <p:nvPr/>
        </p:nvSpPr>
        <p:spPr>
          <a:xfrm>
            <a:off x="3435858" y="4411980"/>
            <a:ext cx="2521458" cy="1760220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710178" y="4686300"/>
            <a:ext cx="548640" cy="548640"/>
          </a:xfrm>
          <a:prstGeom prst="ellipse">
            <a:avLst/>
          </a:prstGeom>
          <a:solidFill>
            <a:srgbClr val="D9F3EA"/>
          </a:solidFill>
          <a:ln w="12700">
            <a:solidFill>
              <a:srgbClr val="D9F3EA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6482" y="4832604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395978" y="468630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Web Formu</a:t>
            </a:r>
            <a:endParaRPr lang="en-US" sz="1700" dirty="0"/>
          </a:p>
        </p:txBody>
      </p:sp>
      <p:sp>
        <p:nvSpPr>
          <p:cNvPr id="36" name="Text 28"/>
          <p:cNvSpPr txBox="1"/>
          <p:nvPr/>
        </p:nvSpPr>
        <p:spPr>
          <a:xfrm>
            <a:off x="3710178" y="5372100"/>
            <a:ext cx="19728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Belediye sitesindeki form doğrudan sisteme akar.</a:t>
            </a:r>
            <a:endParaRPr lang="en-US" sz="1300" dirty="0"/>
          </a:p>
        </p:txBody>
      </p:sp>
      <p:sp>
        <p:nvSpPr>
          <p:cNvPr id="37" name="Card"/>
          <p:cNvSpPr/>
          <p:nvPr/>
        </p:nvSpPr>
        <p:spPr>
          <a:xfrm>
            <a:off x="6231636" y="4411980"/>
            <a:ext cx="2521458" cy="1760220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505956" y="4686300"/>
            <a:ext cx="548640" cy="548640"/>
          </a:xfrm>
          <a:prstGeom prst="ellipse">
            <a:avLst/>
          </a:prstGeom>
          <a:solidFill>
            <a:srgbClr val="D9F3EA"/>
          </a:solidFill>
          <a:ln w="12700">
            <a:solidFill>
              <a:srgbClr val="D9F3EA">
                <a:alpha val="0"/>
              </a:srgbClr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2260" y="4832604"/>
            <a:ext cx="256032" cy="25603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191756" y="468630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Telefon / Çağrı</a:t>
            </a:r>
            <a:endParaRPr lang="en-US" sz="1700" dirty="0"/>
          </a:p>
        </p:txBody>
      </p:sp>
      <p:sp>
        <p:nvSpPr>
          <p:cNvPr id="41" name="Text 32"/>
          <p:cNvSpPr txBox="1"/>
          <p:nvPr/>
        </p:nvSpPr>
        <p:spPr>
          <a:xfrm>
            <a:off x="6505956" y="5372100"/>
            <a:ext cx="19728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Operatör çağrıyı manuel talep olarak kaydeder.</a:t>
            </a:r>
            <a:endParaRPr lang="en-US" sz="1300" dirty="0"/>
          </a:p>
        </p:txBody>
      </p:sp>
      <p:sp>
        <p:nvSpPr>
          <p:cNvPr id="42" name="Card"/>
          <p:cNvSpPr/>
          <p:nvPr/>
        </p:nvSpPr>
        <p:spPr>
          <a:xfrm>
            <a:off x="9027414" y="4411980"/>
            <a:ext cx="2521458" cy="1760220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9301734" y="4686300"/>
            <a:ext cx="548640" cy="548640"/>
          </a:xfrm>
          <a:prstGeom prst="ellipse">
            <a:avLst/>
          </a:prstGeom>
          <a:solidFill>
            <a:srgbClr val="D9F3EA"/>
          </a:solidFill>
          <a:ln w="12700">
            <a:solidFill>
              <a:srgbClr val="D9F3EA">
                <a:alpha val="0"/>
              </a:srgbClr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8038" y="4832604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9987534" y="468630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63D"/>
                </a:solidFill>
              </a:rPr>
              <a:t>e-Devlet</a:t>
            </a:r>
            <a:endParaRPr lang="en-US" sz="1700" dirty="0"/>
          </a:p>
        </p:txBody>
      </p:sp>
      <p:sp>
        <p:nvSpPr>
          <p:cNvPr id="46" name="Text 36"/>
          <p:cNvSpPr txBox="1"/>
          <p:nvPr/>
        </p:nvSpPr>
        <p:spPr>
          <a:xfrm>
            <a:off x="9301734" y="5372100"/>
            <a:ext cx="19728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e-Devlet başvuruları ve faaliyet planları.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Vatandaş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6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37A"/>
                </a:solidFill>
              </a:rPr>
              <a:t>MESAJDAN TALEBE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Mesajı tek tıkla talebe dönüştürün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Gelen mesajın bilgileri forma otomatik taşınır; operatör birimi ve önceliği seçip kaydı başlatır.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Vatandaş adı, telefon ve kanal otomatik dolar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Mahalle / cadde / adres bilgisi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Hedef birime yönlendirme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Mesajı tek tıkla talebe dönüştürü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Vatandaş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7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37A"/>
                </a:solidFill>
              </a:rPr>
              <a:t>ÇAĞRI MERKEZI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Telefonla gelen talebi saniyeler içinde kaydedin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Operatör, çağrı sırasında vatandaş bilgilerini, adresi ve açıklamayı girerek talebi oluşturur.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Kanal ve etiket seçimi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Adres bilgisi ve konum bağlantısı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Dosya / fotoğraf ekleme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Telefonla gelen talebi saniyeler içinde kayded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Vatandaş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8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37A"/>
                </a:solidFill>
              </a:rPr>
              <a:t>WHATSAPP BUSINESS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WhatsApp yazışmaları uygulama içinde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Konuşma geçmişi talep ve görev kaydına bağlı kalır; şablon mesajlarla hızlı yanıt verilir.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Konuşma listesi ve durum filtreleri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Vatandaş bilgi paneli ve talep oluşturma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Şablon ve hızlı yanıtlar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WhatsApp yazışmaları uygulama için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Vatandaş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9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37A"/>
                </a:solidFill>
              </a:rPr>
              <a:t>KURUMSAL DIL GÜVENCESI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Vatandaşa giden her mesaj onaydan geçer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Birim yöneticisi, vatandaşa gönderilecek bilgi metnini gözden geçirir; onaylanmadan mesaj iletilmez.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Onay bekleyen ve gönderilen mesajlar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Not ekleme ve yeniden açma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Tüm işlemler denetim kaydına yazılır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Vatandaşa giden her mesaj onaydan geç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Vatandaş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37A"/>
                </a:solidFill>
              </a:rPr>
              <a:t>CRM MANTIĞI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Vatandaş Bilgi Listesi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Her vatandaş, telefon numarasıyla eşleşen bir karta sahiptir; geçmiş başvurular tek yerden görülür.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İsim, numara ve adrese göre arama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Mahalle ve açık adres bilgisi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Karttan yeni talep başlatma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Vatandaş Bilgi Liste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Vatandaş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37A"/>
                </a:solidFill>
              </a:rPr>
              <a:t>E-DEVLET ENTEGRASYONU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Günlük faaliyet planları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Belediyenin günlük faaliyetleri e-Devlet’e uygun formatta oluşturulur, duyurulur ve takip edilir.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Faaliyet tipi ve mahalle / sokak seçimi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Geçmiş ve günlük planlar listesi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Rol bazlı yetkilendirme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Günlük faaliyet planlar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Vatandaş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37A"/>
                </a:solidFill>
              </a:rPr>
              <a:t>SÜREÇ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263D"/>
                </a:solidFill>
              </a:rPr>
              <a:t>Bir vatandaş talebinin yaşam döngüsü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</a:rPr>
              <a:t>Başvurudan vatandaşa geri bildirime kadar her adım kayıt altında.</a:t>
            </a:r>
            <a:endParaRPr lang="en-US" sz="1600" dirty="0"/>
          </a:p>
        </p:txBody>
      </p:sp>
      <p:sp>
        <p:nvSpPr>
          <p:cNvPr id="7" name="Step"/>
          <p:cNvSpPr/>
          <p:nvPr/>
        </p:nvSpPr>
        <p:spPr>
          <a:xfrm>
            <a:off x="640080" y="2743200"/>
            <a:ext cx="1627632" cy="26517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88136" y="2377440"/>
            <a:ext cx="731520" cy="731520"/>
          </a:xfrm>
          <a:prstGeom prst="ellipse">
            <a:avLst/>
          </a:prstGeom>
          <a:solidFill>
            <a:srgbClr val="12A37A"/>
          </a:solidFill>
          <a:ln w="38100">
            <a:solidFill>
              <a:srgbClr val="F3F6F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5603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2461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63D"/>
                </a:solidFill>
              </a:rPr>
              <a:t>Talep alınır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977640"/>
            <a:ext cx="1353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F"/>
                </a:solidFill>
              </a:rPr>
              <a:t>Kanal mesajı veya çağrı sisteme düşer.</a:t>
            </a:r>
            <a:endParaRPr lang="en-US" sz="1350" dirty="0"/>
          </a:p>
        </p:txBody>
      </p:sp>
      <p:sp>
        <p:nvSpPr>
          <p:cNvPr id="13" name="Step"/>
          <p:cNvSpPr/>
          <p:nvPr/>
        </p:nvSpPr>
        <p:spPr>
          <a:xfrm>
            <a:off x="2496312" y="2743200"/>
            <a:ext cx="1627632" cy="26517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944368" y="2377440"/>
            <a:ext cx="731520" cy="731520"/>
          </a:xfrm>
          <a:prstGeom prst="ellipse">
            <a:avLst/>
          </a:prstGeom>
          <a:solidFill>
            <a:srgbClr val="12A37A"/>
          </a:solidFill>
          <a:ln w="38100">
            <a:solidFill>
              <a:srgbClr val="F3F6F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5603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633472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606040" y="32461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63D"/>
                </a:solidFill>
              </a:rPr>
              <a:t>Birime yönlendirilir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2633472" y="3977640"/>
            <a:ext cx="1353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F"/>
                </a:solidFill>
              </a:rPr>
              <a:t>Operatör hedef birimi ve önceliği belirler.</a:t>
            </a:r>
            <a:endParaRPr lang="en-US" sz="1350" dirty="0"/>
          </a:p>
        </p:txBody>
      </p:sp>
      <p:sp>
        <p:nvSpPr>
          <p:cNvPr id="19" name="Step"/>
          <p:cNvSpPr/>
          <p:nvPr/>
        </p:nvSpPr>
        <p:spPr>
          <a:xfrm>
            <a:off x="4352544" y="2743200"/>
            <a:ext cx="1627632" cy="26517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00600" y="2377440"/>
            <a:ext cx="731520" cy="731520"/>
          </a:xfrm>
          <a:prstGeom prst="ellipse">
            <a:avLst/>
          </a:prstGeom>
          <a:solidFill>
            <a:srgbClr val="12A37A"/>
          </a:solidFill>
          <a:ln w="38100">
            <a:solidFill>
              <a:srgbClr val="F3F6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5603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489704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462272" y="32461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63D"/>
                </a:solidFill>
              </a:rPr>
              <a:t>Birim onaylar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4489704" y="3977640"/>
            <a:ext cx="1353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F"/>
                </a:solidFill>
              </a:rPr>
              <a:t>Birim yöneticisi talebi onaylar veya iade eder.</a:t>
            </a:r>
            <a:endParaRPr lang="en-US" sz="1350" dirty="0"/>
          </a:p>
        </p:txBody>
      </p:sp>
      <p:sp>
        <p:nvSpPr>
          <p:cNvPr id="25" name="Step"/>
          <p:cNvSpPr/>
          <p:nvPr/>
        </p:nvSpPr>
        <p:spPr>
          <a:xfrm>
            <a:off x="6208776" y="2743200"/>
            <a:ext cx="1627632" cy="26517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656832" y="2377440"/>
            <a:ext cx="731520" cy="731520"/>
          </a:xfrm>
          <a:prstGeom prst="ellipse">
            <a:avLst/>
          </a:prstGeom>
          <a:solidFill>
            <a:srgbClr val="12A37A"/>
          </a:solidFill>
          <a:ln w="38100">
            <a:solidFill>
              <a:srgbClr val="F3F6F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56032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345936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318504" y="32461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63D"/>
                </a:solidFill>
              </a:rPr>
              <a:t>Görev atanır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6345936" y="3977640"/>
            <a:ext cx="1353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F"/>
                </a:solidFill>
              </a:rPr>
              <a:t>Talep personele görev olarak atanır.</a:t>
            </a:r>
            <a:endParaRPr lang="en-US" sz="1350" dirty="0"/>
          </a:p>
        </p:txBody>
      </p:sp>
      <p:sp>
        <p:nvSpPr>
          <p:cNvPr id="31" name="Step"/>
          <p:cNvSpPr/>
          <p:nvPr/>
        </p:nvSpPr>
        <p:spPr>
          <a:xfrm>
            <a:off x="8065008" y="2743200"/>
            <a:ext cx="1627632" cy="26517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8513064" y="2377440"/>
            <a:ext cx="731520" cy="731520"/>
          </a:xfrm>
          <a:prstGeom prst="ellipse">
            <a:avLst/>
          </a:prstGeom>
          <a:solidFill>
            <a:srgbClr val="12A37A"/>
          </a:solidFill>
          <a:ln w="38100">
            <a:solidFill>
              <a:srgbClr val="F3F6FA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4" y="256032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202168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8174736" y="32461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63D"/>
                </a:solidFill>
              </a:rPr>
              <a:t>Tamamlanır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8202168" y="3977640"/>
            <a:ext cx="1353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F"/>
                </a:solidFill>
              </a:rPr>
              <a:t>Sonuç notu girilir, yönetici kapanışı onaylar.</a:t>
            </a:r>
            <a:endParaRPr lang="en-US" sz="1350" dirty="0"/>
          </a:p>
        </p:txBody>
      </p:sp>
      <p:sp>
        <p:nvSpPr>
          <p:cNvPr id="37" name="Step"/>
          <p:cNvSpPr/>
          <p:nvPr/>
        </p:nvSpPr>
        <p:spPr>
          <a:xfrm>
            <a:off x="9921240" y="2743200"/>
            <a:ext cx="1627632" cy="26517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10369296" y="2377440"/>
            <a:ext cx="731520" cy="731520"/>
          </a:xfrm>
          <a:prstGeom prst="ellipse">
            <a:avLst/>
          </a:prstGeom>
          <a:solidFill>
            <a:srgbClr val="12A37A"/>
          </a:solidFill>
          <a:ln w="38100">
            <a:solidFill>
              <a:srgbClr val="F3F6FA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2560320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005840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10030968" y="32461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63D"/>
                </a:solidFill>
              </a:rPr>
              <a:t>Vatandaş bilgilendirilir</a:t>
            </a:r>
            <a:endParaRPr lang="en-US" sz="1600" dirty="0"/>
          </a:p>
        </p:txBody>
      </p:sp>
      <p:sp>
        <p:nvSpPr>
          <p:cNvPr id="42" name="Text 34"/>
          <p:cNvSpPr txBox="1"/>
          <p:nvPr/>
        </p:nvSpPr>
        <p:spPr>
          <a:xfrm>
            <a:off x="10058400" y="3977640"/>
            <a:ext cx="1353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F"/>
                </a:solidFill>
              </a:rPr>
              <a:t>Onaylı SMS / mesaj vatandaşa iletilir.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Vatandaş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37A"/>
                </a:solidFill>
              </a:rPr>
              <a:t>YÖNETIM VE GÜVENLIK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Rol bazlı yetki, tam denetim izi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Hangi rolün hangi sayfayı göreceği satır satır belirlenir; kritik işlemler denetim kaydına düşer.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Operatör, Yönetici, Personel, Raportör rolleri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Sayfa bazlı Aktif / Pasif yetki matrisi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12A37A"/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Kim, ne zaman, ne yaptı kaydı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Rol bazlı yetki, tam denetim iz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6400800" cy="6400800"/>
          </a:xfrm>
          <a:prstGeom prst="ellipse">
            <a:avLst/>
          </a:prstGeom>
          <a:solidFill>
            <a:srgbClr val="12A37A">
              <a:alpha val="15000"/>
            </a:srgbClr>
          </a:solidFill>
          <a:ln w="12700">
            <a:solidFill>
              <a:srgbClr val="12A37A">
                <a:alpha val="0"/>
              </a:srgbClr>
            </a:solidFill>
            <a:prstDash val="solid"/>
          </a:ln>
        </p:spPr>
      </p:sp>
      <p:pic>
        <p:nvPicPr>
          <p:cNvPr id="3" name="Logo" descr="Lumespe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2194560" cy="4661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Birlikte başlayalım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3832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9CBE0"/>
                </a:solidFill>
              </a:rPr>
              <a:t>Kurumunuza en uygun modül kombinasyonunu belirleyelim ve canlı bir demo ile sistemi birlikte gezelim.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846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İletişim: destek@lumespec.com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eni Tim">
  <a:themeElements>
    <a:clrScheme name="Yeni Tim">
      <a:dk1>
        <a:srgbClr val="14263D"/>
      </a:dk1>
      <a:lt1>
        <a:srgbClr val="FFFFFF"/>
      </a:lt1>
      <a:dk2>
        <a:srgbClr val="0B2540"/>
      </a:dk2>
      <a:lt2>
        <a:srgbClr val="F3F6FA"/>
      </a:lt2>
      <a:accent1>
        <a:srgbClr val="2F6DB5"/>
      </a:accent1>
      <a:accent2>
        <a:srgbClr val="12A37A"/>
      </a:accent2>
      <a:accent3>
        <a:srgbClr val="3B82F6"/>
      </a:accent3>
      <a:accent4>
        <a:srgbClr val="F59E0B"/>
      </a:accent4>
      <a:accent5>
        <a:srgbClr val="5B6B7F"/>
      </a:accent5>
      <a:accent6>
        <a:srgbClr val="DCEBFA"/>
      </a:accent6>
      <a:hlink>
        <a:srgbClr val="2F6DB5"/>
      </a:hlink>
      <a:folHlink>
        <a:srgbClr val="5B6B7F"/>
      </a:folHlink>
    </a:clrScheme>
    <a:fontScheme name="Yeni Ti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Lumespec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Vatandaş İş Takip Sistemi</dc:title>
  <dc:subject>PptxGenJS Presentation</dc:subject>
  <dc:creator>Lumespec</dc:creator>
  <cp:lastModifiedBy>Lumespec</cp:lastModifiedBy>
  <cp:revision>1</cp:revision>
  <dcterms:created xsi:type="dcterms:W3CDTF">2026-10-02T18:02:15Z</dcterms:created>
  <dcterms:modified xsi:type="dcterms:W3CDTF">2026-10-02T18:02:15Z</dcterms:modified>
</cp:coreProperties>
</file>