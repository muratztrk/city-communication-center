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jpg"/><Relationship Id="rId3" Type="http://schemas.openxmlformats.org/officeDocument/2006/relationships/image" Target="../media/image-1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jpg"/><Relationship Id="rId3" Type="http://schemas.openxmlformats.org/officeDocument/2006/relationships/image" Target="../media/image-19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w1"/>
          <p:cNvSpPr/>
          <p:nvPr/>
        </p:nvSpPr>
        <p:spPr>
          <a:xfrm>
            <a:off x="7863840" y="-2011680"/>
            <a:ext cx="6858000" cy="6858000"/>
          </a:xfrm>
          <a:prstGeom prst="ellipse">
            <a:avLst/>
          </a:prstGeom>
          <a:solidFill>
            <a:srgbClr val="2F6DB5">
              <a:alpha val="18000"/>
            </a:srgbClr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</p:sp>
      <p:sp>
        <p:nvSpPr>
          <p:cNvPr id="3" name="Glow2"/>
          <p:cNvSpPr/>
          <p:nvPr/>
        </p:nvSpPr>
        <p:spPr>
          <a:xfrm>
            <a:off x="9692640" y="3291840"/>
            <a:ext cx="5029200" cy="5029200"/>
          </a:xfrm>
          <a:prstGeom prst="ellipse">
            <a:avLst/>
          </a:prstGeom>
          <a:solidFill>
            <a:srgbClr val="2F6DB5">
              <a:alpha val="15000"/>
            </a:srgbClr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</p:sp>
      <p:pic>
        <p:nvPicPr>
          <p:cNvPr id="4" name="Logo" descr="Lumespe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2194560" cy="4661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DBBFF"/>
                </a:solidFill>
              </a:rPr>
              <a:t>PLATFORM TANITIMI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60604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Yeni Tim İletişim Merkezi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5262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9CBE0"/>
                </a:solidFill>
              </a:rPr>
              <a:t>Belediyeler için modüler dijital iletişim ve iş takip platformu: vatandaş talepleri ve kurum içi iş akışı tek girişte.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0"/>
                </a:solidFill>
              </a:rPr>
              <a:t>Yeni Tim İletişim Merkezi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Yeni Tim İletişim Merkezi · Platform Tanıtımı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6DB5"/>
                </a:solidFill>
              </a:rPr>
              <a:t>YENI TIM NEDIR?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4263D"/>
                </a:solidFill>
              </a:rPr>
              <a:t>İki ürün, tek platform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</a:rPr>
              <a:t>Aynı giriş, aynı menü; ihtiyacınıza göre lisanslanan iki bağımsız modül.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640080" y="2377440"/>
            <a:ext cx="5317236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651760"/>
            <a:ext cx="640080" cy="640080"/>
          </a:xfrm>
          <a:prstGeom prst="ellipse">
            <a:avLst/>
          </a:prstGeom>
          <a:solidFill>
            <a:srgbClr val="DCEBFA"/>
          </a:solidFill>
          <a:ln w="12700">
            <a:solidFill>
              <a:srgbClr val="DCEBFA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80720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14400" y="3429000"/>
            <a:ext cx="47685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263D"/>
                </a:solidFill>
              </a:rPr>
              <a:t>Vatandaş İş Takip Sistemi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3858768"/>
            <a:ext cx="476859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</a:rPr>
              <a:t>Sosyal medya, WhatsApp, SMS, e-Devlet ve web formu üzerinden gelen vatandaş taleplerini tek noktada toplar, yönlendirir ve onaylı mesajlarla yanıtlar.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6231636" y="2377440"/>
            <a:ext cx="5317236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05956" y="2651760"/>
            <a:ext cx="640080" cy="640080"/>
          </a:xfrm>
          <a:prstGeom prst="ellipse">
            <a:avLst/>
          </a:prstGeom>
          <a:solidFill>
            <a:srgbClr val="DCEBFA"/>
          </a:solidFill>
          <a:ln w="12700">
            <a:solidFill>
              <a:srgbClr val="DCEBFA">
                <a:alpha val="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404" y="280720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505956" y="3429000"/>
            <a:ext cx="47685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263D"/>
                </a:solidFill>
              </a:rPr>
              <a:t>Kurum İçi İş Takip Sistemi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6505956" y="3858768"/>
            <a:ext cx="476859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</a:rPr>
              <a:t>Birim içi ve birimler arası talepleri, görev atamalarını, onay süreçlerini ve rutin işleri dijital olarak yönetir.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Yeni Tim İletişim Merkezi · Platform Tanıtımı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6DB5"/>
                </a:solidFill>
              </a:rPr>
              <a:t>LİSANS MODELİ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4263D"/>
                </a:solidFill>
              </a:rPr>
              <a:t>İhtiyacınız kadar satın alın, sonra büyütün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429000" cy="411480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77800" dist="50800" dir="5400000">
              <a:srgbClr val="0B254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60120" y="2331720"/>
            <a:ext cx="1463040" cy="347472"/>
          </a:xfrm>
          <a:prstGeom prst="roundRect">
            <a:avLst>
              <a:gd name="adj" fmla="val 26316"/>
            </a:avLst>
          </a:prstGeom>
          <a:solidFill>
            <a:srgbClr val="3B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Kİ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8803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4263D"/>
                </a:solidFill>
              </a:rPr>
              <a:t>Yalnız Kurum İçi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42900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</a:rPr>
              <a:t>Önce iç süreçlerini dijitalleştirmek isteyen belediyeler için.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75488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F6DB5"/>
                </a:solidFill>
              </a:rPr>
              <a:t>Talep · Görev · Rutin iş · İzleme ekranı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79976" y="2011680"/>
            <a:ext cx="3429000" cy="4114800"/>
          </a:xfrm>
          <a:prstGeom prst="roundRect">
            <a:avLst>
              <a:gd name="adj" fmla="val 3733"/>
            </a:avLst>
          </a:prstGeom>
          <a:solidFill>
            <a:srgbClr val="0B2540"/>
          </a:solidFill>
          <a:ln w="9525">
            <a:solidFill>
              <a:srgbClr val="0B2540"/>
            </a:solidFill>
            <a:prstDash val="solid"/>
          </a:ln>
          <a:effectLst>
            <a:outerShdw sx="100000" sy="100000" kx="0" ky="0" algn="bl" rotWithShape="0" blurRad="177800" dist="50800" dir="5400000">
              <a:srgbClr val="0B2540">
                <a:alpha val="3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700016" y="2331720"/>
            <a:ext cx="1463040" cy="347472"/>
          </a:xfrm>
          <a:prstGeom prst="roundRect">
            <a:avLst>
              <a:gd name="adj" fmla="val 26316"/>
            </a:avLst>
          </a:prstGeom>
          <a:solidFill>
            <a:srgbClr val="12A3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Kİ + VT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700016" y="28803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Her iki modül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700016" y="342900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CBE0"/>
                </a:solidFill>
              </a:rPr>
              <a:t>Uçtan uca dijital dönüşüm hedefleyen belediyeler için.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00016" y="475488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DBBFF"/>
                </a:solidFill>
              </a:rPr>
              <a:t>Vatandaştan göreve, sonuçtan bilgilendirmeye tek akış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19872" y="2011680"/>
            <a:ext cx="3429000" cy="411480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77800" dist="50800" dir="5400000">
              <a:srgbClr val="0B254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39912" y="2331720"/>
            <a:ext cx="1463040" cy="347472"/>
          </a:xfrm>
          <a:prstGeom prst="roundRect">
            <a:avLst>
              <a:gd name="adj" fmla="val 26316"/>
            </a:avLst>
          </a:prstGeom>
          <a:solidFill>
            <a:srgbClr val="12A3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39912" y="28803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4263D"/>
                </a:solidFill>
              </a:rPr>
              <a:t>Yalnız Vatandaş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439912" y="342900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</a:rPr>
              <a:t>Vatandaş iletişimini tek noktaya toplamak isteyen belediyeler için.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439912" y="475488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F6DB5"/>
                </a:solidFill>
              </a:rPr>
              <a:t>Çoklu kanal · WhatsApp · Onaylı mesaj · e-Devlet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34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0"/>
                </a:solidFill>
              </a:rPr>
              <a:t>Yeni Tim İletişim Merkezi · Platform Tanıtımı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0"/>
                </a:solidFill>
              </a:rPr>
              <a:t>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544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2F6DB5"/>
                </a:solidFill>
              </a:rPr>
              <a:t>01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004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Vatandaş İş Takip Sistemi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160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9CBE0"/>
                </a:solidFill>
              </a:rPr>
              <a:t>Vatandaşın belediyeyle kurduğu her teması tek ekranda toplar.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Yeni Tim İletişim Merkezi · Platform Tanıtımı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5</a:t>
            </a:r>
            <a:endParaRPr lang="en-US" sz="1000" dirty="0"/>
          </a:p>
        </p:txBody>
      </p:sp>
      <p:sp>
        <p:nvSpPr>
          <p:cNvPr id="4" name="IconBadge"/>
          <p:cNvSpPr/>
          <p:nvPr/>
        </p:nvSpPr>
        <p:spPr>
          <a:xfrm>
            <a:off x="640080" y="685800"/>
            <a:ext cx="548640" cy="54864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8138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731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6DB5"/>
                </a:solidFill>
              </a:rPr>
              <a:t>VATANDAŞ MODÜLÜ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46304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</a:rPr>
              <a:t>Vatandaş Paneli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260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</a:rPr>
              <a:t>Gelen taleplerin durumu, mahalle ve kanal dağılımı canlı olarak izlenir.</a:t>
            </a:r>
            <a:endParaRPr lang="en-US" sz="1500" dirty="0"/>
          </a:p>
        </p:txBody>
      </p:sp>
      <p:sp>
        <p:nvSpPr>
          <p:cNvPr id="9" name="Dot"/>
          <p:cNvSpPr/>
          <p:nvPr/>
        </p:nvSpPr>
        <p:spPr>
          <a:xfrm>
            <a:off x="658368" y="4279392"/>
            <a:ext cx="128016" cy="128016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32688" y="41879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Dönem filtreli canlı özet</a:t>
            </a:r>
            <a:endParaRPr lang="en-US" sz="1400" dirty="0"/>
          </a:p>
        </p:txBody>
      </p:sp>
      <p:sp>
        <p:nvSpPr>
          <p:cNvPr id="11" name="Dot"/>
          <p:cNvSpPr/>
          <p:nvPr/>
        </p:nvSpPr>
        <p:spPr>
          <a:xfrm>
            <a:off x="658368" y="4736592"/>
            <a:ext cx="128016" cy="128016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" y="46451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Mahalle bazlı yoğunluk</a:t>
            </a:r>
            <a:endParaRPr lang="en-US" sz="1400" dirty="0"/>
          </a:p>
        </p:txBody>
      </p:sp>
      <p:sp>
        <p:nvSpPr>
          <p:cNvPr id="13" name="Dot"/>
          <p:cNvSpPr/>
          <p:nvPr/>
        </p:nvSpPr>
        <p:spPr>
          <a:xfrm>
            <a:off x="658368" y="5193792"/>
            <a:ext cx="128016" cy="128016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32688" y="51023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Kanal ve etiket dağılımı</a:t>
            </a:r>
            <a:endParaRPr lang="en-US" sz="1400" dirty="0"/>
          </a:p>
        </p:txBody>
      </p:sp>
      <p:sp>
        <p:nvSpPr>
          <p:cNvPr id="15" name="ShotFrame"/>
          <p:cNvSpPr/>
          <p:nvPr/>
        </p:nvSpPr>
        <p:spPr>
          <a:xfrm>
            <a:off x="5166360" y="1354455"/>
            <a:ext cx="6583680" cy="378333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77800" dist="50800" dir="5400000">
              <a:srgbClr val="0B2540">
                <a:alpha val="18000"/>
              </a:srgbClr>
            </a:outerShdw>
          </a:effectLst>
        </p:spPr>
      </p:sp>
      <p:pic>
        <p:nvPicPr>
          <p:cNvPr id="16" name="Screenshot" descr="Vatandaş Panel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445895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Yeni Tim İletişim Merkezi · Platform Tanıtımı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6</a:t>
            </a:r>
            <a:endParaRPr lang="en-US" sz="1000" dirty="0"/>
          </a:p>
        </p:txBody>
      </p:sp>
      <p:sp>
        <p:nvSpPr>
          <p:cNvPr id="4" name="IconBadge"/>
          <p:cNvSpPr/>
          <p:nvPr/>
        </p:nvSpPr>
        <p:spPr>
          <a:xfrm>
            <a:off x="640080" y="685800"/>
            <a:ext cx="548640" cy="54864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8138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731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6DB5"/>
                </a:solidFill>
              </a:rPr>
              <a:t>ÇOKLU KANAL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46304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</a:rPr>
              <a:t>Tüm kanallar aynı listede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260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</a:rPr>
              <a:t>Facebook, Instagram, X, e-posta, web formu ve WhatsApp mesajları tek listede, aynı kurallarla işlenir.</a:t>
            </a:r>
            <a:endParaRPr lang="en-US" sz="1500" dirty="0"/>
          </a:p>
        </p:txBody>
      </p:sp>
      <p:sp>
        <p:nvSpPr>
          <p:cNvPr id="9" name="Dot"/>
          <p:cNvSpPr/>
          <p:nvPr/>
        </p:nvSpPr>
        <p:spPr>
          <a:xfrm>
            <a:off x="658368" y="4279392"/>
            <a:ext cx="128016" cy="128016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32688" y="41879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Kanal ikonu ve talep numarası</a:t>
            </a:r>
            <a:endParaRPr lang="en-US" sz="1400" dirty="0"/>
          </a:p>
        </p:txBody>
      </p:sp>
      <p:sp>
        <p:nvSpPr>
          <p:cNvPr id="11" name="Dot"/>
          <p:cNvSpPr/>
          <p:nvPr/>
        </p:nvSpPr>
        <p:spPr>
          <a:xfrm>
            <a:off x="658368" y="4736592"/>
            <a:ext cx="128016" cy="128016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" y="46451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Mesajı talebe dönüştürme</a:t>
            </a:r>
            <a:endParaRPr lang="en-US" sz="1400" dirty="0"/>
          </a:p>
        </p:txBody>
      </p:sp>
      <p:sp>
        <p:nvSpPr>
          <p:cNvPr id="13" name="Dot"/>
          <p:cNvSpPr/>
          <p:nvPr/>
        </p:nvSpPr>
        <p:spPr>
          <a:xfrm>
            <a:off x="658368" y="5193792"/>
            <a:ext cx="128016" cy="128016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32688" y="51023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Arama ve filtreleme</a:t>
            </a:r>
            <a:endParaRPr lang="en-US" sz="1400" dirty="0"/>
          </a:p>
        </p:txBody>
      </p:sp>
      <p:sp>
        <p:nvSpPr>
          <p:cNvPr id="15" name="ShotFrame"/>
          <p:cNvSpPr/>
          <p:nvPr/>
        </p:nvSpPr>
        <p:spPr>
          <a:xfrm>
            <a:off x="5166360" y="1354455"/>
            <a:ext cx="6583680" cy="378333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77800" dist="50800" dir="5400000">
              <a:srgbClr val="0B2540">
                <a:alpha val="18000"/>
              </a:srgbClr>
            </a:outerShdw>
          </a:effectLst>
        </p:spPr>
      </p:sp>
      <p:pic>
        <p:nvPicPr>
          <p:cNvPr id="16" name="Screenshot" descr="Tüm kanallar aynı liste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445895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Yeni Tim İletişim Merkezi · Platform Tanıtımı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7</a:t>
            </a:r>
            <a:endParaRPr lang="en-US" sz="1000" dirty="0"/>
          </a:p>
        </p:txBody>
      </p:sp>
      <p:sp>
        <p:nvSpPr>
          <p:cNvPr id="4" name="IconBadge"/>
          <p:cNvSpPr/>
          <p:nvPr/>
        </p:nvSpPr>
        <p:spPr>
          <a:xfrm>
            <a:off x="640080" y="685800"/>
            <a:ext cx="548640" cy="54864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8138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731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6DB5"/>
                </a:solidFill>
              </a:rPr>
              <a:t>WHATSAPP BUSINESS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46304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</a:rPr>
              <a:t>WhatsApp yazışmaları uygulama içinde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260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</a:rPr>
              <a:t>Konuşma geçmişi talep ve görev kaydına bağlı kalır.</a:t>
            </a:r>
            <a:endParaRPr lang="en-US" sz="1500" dirty="0"/>
          </a:p>
        </p:txBody>
      </p:sp>
      <p:sp>
        <p:nvSpPr>
          <p:cNvPr id="9" name="Dot"/>
          <p:cNvSpPr/>
          <p:nvPr/>
        </p:nvSpPr>
        <p:spPr>
          <a:xfrm>
            <a:off x="658368" y="4279392"/>
            <a:ext cx="128016" cy="128016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32688" y="41879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Konuşma listesi ve filtreler</a:t>
            </a:r>
            <a:endParaRPr lang="en-US" sz="1400" dirty="0"/>
          </a:p>
        </p:txBody>
      </p:sp>
      <p:sp>
        <p:nvSpPr>
          <p:cNvPr id="11" name="Dot"/>
          <p:cNvSpPr/>
          <p:nvPr/>
        </p:nvSpPr>
        <p:spPr>
          <a:xfrm>
            <a:off x="658368" y="4736592"/>
            <a:ext cx="128016" cy="128016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" y="46451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Şablon ve hızlı yanıtlar</a:t>
            </a:r>
            <a:endParaRPr lang="en-US" sz="1400" dirty="0"/>
          </a:p>
        </p:txBody>
      </p:sp>
      <p:sp>
        <p:nvSpPr>
          <p:cNvPr id="13" name="Dot"/>
          <p:cNvSpPr/>
          <p:nvPr/>
        </p:nvSpPr>
        <p:spPr>
          <a:xfrm>
            <a:off x="658368" y="5193792"/>
            <a:ext cx="128016" cy="128016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32688" y="51023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Vatandaş bilgi paneli</a:t>
            </a:r>
            <a:endParaRPr lang="en-US" sz="1400" dirty="0"/>
          </a:p>
        </p:txBody>
      </p:sp>
      <p:sp>
        <p:nvSpPr>
          <p:cNvPr id="15" name="ShotFrame"/>
          <p:cNvSpPr/>
          <p:nvPr/>
        </p:nvSpPr>
        <p:spPr>
          <a:xfrm>
            <a:off x="5166360" y="1354455"/>
            <a:ext cx="6583680" cy="378333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77800" dist="50800" dir="5400000">
              <a:srgbClr val="0B2540">
                <a:alpha val="18000"/>
              </a:srgbClr>
            </a:outerShdw>
          </a:effectLst>
        </p:spPr>
      </p:sp>
      <p:pic>
        <p:nvPicPr>
          <p:cNvPr id="16" name="Screenshot" descr="WhatsApp yazışmaları uygulama için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445895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Yeni Tim İletişim Merkezi · Platform Tanıtımı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8</a:t>
            </a:r>
            <a:endParaRPr lang="en-US" sz="1000" dirty="0"/>
          </a:p>
        </p:txBody>
      </p:sp>
      <p:sp>
        <p:nvSpPr>
          <p:cNvPr id="4" name="IconBadge"/>
          <p:cNvSpPr/>
          <p:nvPr/>
        </p:nvSpPr>
        <p:spPr>
          <a:xfrm>
            <a:off x="640080" y="685800"/>
            <a:ext cx="548640" cy="54864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8138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731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6DB5"/>
                </a:solidFill>
              </a:rPr>
              <a:t>KURUMSAL DIL GÜVENCESI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46304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</a:rPr>
              <a:t>Onaylı vatandaş mesajları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260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</a:rPr>
              <a:t>Vatandaşa giden SMS ve mesajlar, gönderilmeden önce yetkili onayından geçer.</a:t>
            </a:r>
            <a:endParaRPr lang="en-US" sz="1500" dirty="0"/>
          </a:p>
        </p:txBody>
      </p:sp>
      <p:sp>
        <p:nvSpPr>
          <p:cNvPr id="9" name="Dot"/>
          <p:cNvSpPr/>
          <p:nvPr/>
        </p:nvSpPr>
        <p:spPr>
          <a:xfrm>
            <a:off x="658368" y="4279392"/>
            <a:ext cx="128016" cy="128016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32688" y="41879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Onay bekleyen mesajlar</a:t>
            </a:r>
            <a:endParaRPr lang="en-US" sz="1400" dirty="0"/>
          </a:p>
        </p:txBody>
      </p:sp>
      <p:sp>
        <p:nvSpPr>
          <p:cNvPr id="11" name="Dot"/>
          <p:cNvSpPr/>
          <p:nvPr/>
        </p:nvSpPr>
        <p:spPr>
          <a:xfrm>
            <a:off x="658368" y="4736592"/>
            <a:ext cx="128016" cy="128016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" y="46451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Not ve yeniden açma</a:t>
            </a:r>
            <a:endParaRPr lang="en-US" sz="1400" dirty="0"/>
          </a:p>
        </p:txBody>
      </p:sp>
      <p:sp>
        <p:nvSpPr>
          <p:cNvPr id="13" name="Dot"/>
          <p:cNvSpPr/>
          <p:nvPr/>
        </p:nvSpPr>
        <p:spPr>
          <a:xfrm>
            <a:off x="658368" y="5193792"/>
            <a:ext cx="128016" cy="128016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32688" y="51023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Denetim kaydı</a:t>
            </a:r>
            <a:endParaRPr lang="en-US" sz="1400" dirty="0"/>
          </a:p>
        </p:txBody>
      </p:sp>
      <p:sp>
        <p:nvSpPr>
          <p:cNvPr id="15" name="ShotFrame"/>
          <p:cNvSpPr/>
          <p:nvPr/>
        </p:nvSpPr>
        <p:spPr>
          <a:xfrm>
            <a:off x="5166360" y="1354455"/>
            <a:ext cx="6583680" cy="378333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77800" dist="50800" dir="5400000">
              <a:srgbClr val="0B2540">
                <a:alpha val="18000"/>
              </a:srgbClr>
            </a:outerShdw>
          </a:effectLst>
        </p:spPr>
      </p:sp>
      <p:pic>
        <p:nvPicPr>
          <p:cNvPr id="16" name="Screenshot" descr="Onaylı vatandaş mesajları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445895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Yeni Tim İletişim Merkezi · Platform Tanıtımı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457200"/>
            <a:ext cx="548640" cy="54864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6DB5"/>
                </a:solidFill>
              </a:rPr>
              <a:t>VATANDAŞ KARTI VE E-DEVLET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0972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</a:rPr>
              <a:t>Geçmiş başvurular ve e-Devlet faaliyet planları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66928" y="2167128"/>
            <a:ext cx="5495544" cy="3155252"/>
          </a:xfrm>
          <a:prstGeom prst="roundRect">
            <a:avLst>
              <a:gd name="adj" fmla="val 2898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52400" dist="38100" dir="5400000">
              <a:srgbClr val="0B2540">
                <a:alpha val="16000"/>
              </a:srgbClr>
            </a:outerShdw>
          </a:effectLst>
        </p:spPr>
      </p:sp>
      <p:pic>
        <p:nvPicPr>
          <p:cNvPr id="9" name="Image 1" descr="Vatandaş Bilgi Listes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40280"/>
            <a:ext cx="5349240" cy="30089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5450395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63D"/>
                </a:solidFill>
              </a:rPr>
              <a:t>Vatandaş Bilgi Listesi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577958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</a:rPr>
              <a:t>Telefonla eşleşen kart, başvuru geçmişi ve iletişim bilgileri.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190488" y="2167128"/>
            <a:ext cx="5495544" cy="3155252"/>
          </a:xfrm>
          <a:prstGeom prst="roundRect">
            <a:avLst>
              <a:gd name="adj" fmla="val 2898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52400" dist="38100" dir="5400000">
              <a:srgbClr val="0B2540">
                <a:alpha val="16000"/>
              </a:srgbClr>
            </a:outerShdw>
          </a:effectLst>
        </p:spPr>
      </p:sp>
      <p:pic>
        <p:nvPicPr>
          <p:cNvPr id="13" name="Image 2" descr="e-Devlet faaliyet planı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240280"/>
            <a:ext cx="5349240" cy="30089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263640" y="5450395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63D"/>
                </a:solidFill>
              </a:rPr>
              <a:t>e-Devlet faaliyet planı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6263640" y="577958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</a:rPr>
              <a:t>Faaliyet tipi, mahalle ve açıklama ile günlük plan oluşturma.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40080" y="1691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</a:rPr>
              <a:t>Vatandaş geçmişi tek kartta; günlük faaliyetler e-Devlet’e uygun formatta.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34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0"/>
                </a:solidFill>
              </a:rPr>
              <a:t>Yeni Tim İletişim Merkezi · Platform Tanıtımı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0"/>
                </a:solidFill>
              </a:rPr>
              <a:t>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544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2F6DB5"/>
                </a:solidFill>
              </a:rPr>
              <a:t>02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004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Kurum İçi İş Takip Sistemi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160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9CBE0"/>
                </a:solidFill>
              </a:rPr>
              <a:t>Birimlerin kendi aralarındaki iş akışını tek dijital süreçte yönetir.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Yeni Tim İletişim Merkezi · Platform Tanıtımı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11</a:t>
            </a:r>
            <a:endParaRPr lang="en-US" sz="1000" dirty="0"/>
          </a:p>
        </p:txBody>
      </p:sp>
      <p:sp>
        <p:nvSpPr>
          <p:cNvPr id="4" name="IconBadge"/>
          <p:cNvSpPr/>
          <p:nvPr/>
        </p:nvSpPr>
        <p:spPr>
          <a:xfrm>
            <a:off x="640080" y="685800"/>
            <a:ext cx="548640" cy="54864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8138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731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6DB5"/>
                </a:solidFill>
              </a:rPr>
              <a:t>KURUM IÇI MODÜL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46304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</a:rPr>
              <a:t>Yönetici anasayfası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260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</a:rPr>
              <a:t>Bekleyen talepler, görevler ve personel iş yükü canlı grafiklerle izlenir.</a:t>
            </a:r>
            <a:endParaRPr lang="en-US" sz="1500" dirty="0"/>
          </a:p>
        </p:txBody>
      </p:sp>
      <p:sp>
        <p:nvSpPr>
          <p:cNvPr id="9" name="Dot"/>
          <p:cNvSpPr/>
          <p:nvPr/>
        </p:nvSpPr>
        <p:spPr>
          <a:xfrm>
            <a:off x="658368" y="4279392"/>
            <a:ext cx="128016" cy="128016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32688" y="41879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Birime gelen / giden durumlar</a:t>
            </a:r>
            <a:endParaRPr lang="en-US" sz="1400" dirty="0"/>
          </a:p>
        </p:txBody>
      </p:sp>
      <p:sp>
        <p:nvSpPr>
          <p:cNvPr id="11" name="Dot"/>
          <p:cNvSpPr/>
          <p:nvPr/>
        </p:nvSpPr>
        <p:spPr>
          <a:xfrm>
            <a:off x="658368" y="4736592"/>
            <a:ext cx="128016" cy="128016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" y="46451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Personel bazlı dağılım</a:t>
            </a:r>
            <a:endParaRPr lang="en-US" sz="1400" dirty="0"/>
          </a:p>
        </p:txBody>
      </p:sp>
      <p:sp>
        <p:nvSpPr>
          <p:cNvPr id="13" name="Dot"/>
          <p:cNvSpPr/>
          <p:nvPr/>
        </p:nvSpPr>
        <p:spPr>
          <a:xfrm>
            <a:off x="658368" y="5193792"/>
            <a:ext cx="128016" cy="128016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32688" y="51023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Geciken işler</a:t>
            </a:r>
            <a:endParaRPr lang="en-US" sz="1400" dirty="0"/>
          </a:p>
        </p:txBody>
      </p:sp>
      <p:sp>
        <p:nvSpPr>
          <p:cNvPr id="15" name="ShotFrame"/>
          <p:cNvSpPr/>
          <p:nvPr/>
        </p:nvSpPr>
        <p:spPr>
          <a:xfrm>
            <a:off x="5166360" y="1354455"/>
            <a:ext cx="6583680" cy="378333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77800" dist="50800" dir="5400000">
              <a:srgbClr val="0B2540">
                <a:alpha val="18000"/>
              </a:srgbClr>
            </a:outerShdw>
          </a:effectLst>
        </p:spPr>
      </p:sp>
      <p:pic>
        <p:nvPicPr>
          <p:cNvPr id="16" name="Screenshot" descr="Yönetici anasayfası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445895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Yeni Tim İletişim Merkezi · Platform Tanıtımı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457200"/>
            <a:ext cx="548640" cy="54864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6DB5"/>
                </a:solidFill>
              </a:rPr>
              <a:t>TALEP OLUŞTURMA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0972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</a:rPr>
              <a:t>Birim içi ve birimler arası talepler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66928" y="2167128"/>
            <a:ext cx="5495544" cy="3155252"/>
          </a:xfrm>
          <a:prstGeom prst="roundRect">
            <a:avLst>
              <a:gd name="adj" fmla="val 2898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52400" dist="38100" dir="5400000">
              <a:srgbClr val="0B2540">
                <a:alpha val="16000"/>
              </a:srgbClr>
            </a:outerShdw>
          </a:effectLst>
        </p:spPr>
      </p:sp>
      <p:pic>
        <p:nvPicPr>
          <p:cNvPr id="9" name="Image 1" descr="Birim içi tale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40280"/>
            <a:ext cx="5349240" cy="30089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5450395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63D"/>
                </a:solidFill>
              </a:rPr>
              <a:t>Birim içi talep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577958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</a:rPr>
              <a:t>Görevi yapacak kişi seçilerek iş doğrudan başlar.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190488" y="2167128"/>
            <a:ext cx="5495544" cy="3155252"/>
          </a:xfrm>
          <a:prstGeom prst="roundRect">
            <a:avLst>
              <a:gd name="adj" fmla="val 2898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52400" dist="38100" dir="5400000">
              <a:srgbClr val="0B2540">
                <a:alpha val="16000"/>
              </a:srgbClr>
            </a:outerShdw>
          </a:effectLst>
        </p:spPr>
      </p:sp>
      <p:pic>
        <p:nvPicPr>
          <p:cNvPr id="13" name="Image 2" descr="Birim dışı tale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240280"/>
            <a:ext cx="5349240" cy="30089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263640" y="5450395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63D"/>
                </a:solidFill>
              </a:rPr>
              <a:t>Birim dışı talep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6263640" y="577958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</a:rPr>
              <a:t>Hedef birimin yöneticisine onaya düşer.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40080" y="1691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</a:rPr>
              <a:t>İşi kendi biriminizde başlatın ya da başka bir birimden destek isteyin.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Yeni Tim İletişim Merkezi · Platform Tanıtımı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13</a:t>
            </a:r>
            <a:endParaRPr lang="en-US" sz="1000" dirty="0"/>
          </a:p>
        </p:txBody>
      </p:sp>
      <p:sp>
        <p:nvSpPr>
          <p:cNvPr id="4" name="IconBadge"/>
          <p:cNvSpPr/>
          <p:nvPr/>
        </p:nvSpPr>
        <p:spPr>
          <a:xfrm>
            <a:off x="640080" y="685800"/>
            <a:ext cx="548640" cy="54864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8138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731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6DB5"/>
                </a:solidFill>
              </a:rPr>
              <a:t>ONAY AKIŞI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46304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</a:rPr>
              <a:t>Birime gelen talepler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260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</a:rPr>
              <a:t>Yönetici talepleri tek tıkla onaylar, iade eder ya da personele atar.</a:t>
            </a:r>
            <a:endParaRPr lang="en-US" sz="1500" dirty="0"/>
          </a:p>
        </p:txBody>
      </p:sp>
      <p:sp>
        <p:nvSpPr>
          <p:cNvPr id="9" name="Dot"/>
          <p:cNvSpPr/>
          <p:nvPr/>
        </p:nvSpPr>
        <p:spPr>
          <a:xfrm>
            <a:off x="658368" y="4279392"/>
            <a:ext cx="128016" cy="128016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32688" y="41879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Durum filtreleri</a:t>
            </a:r>
            <a:endParaRPr lang="en-US" sz="1400" dirty="0"/>
          </a:p>
        </p:txBody>
      </p:sp>
      <p:sp>
        <p:nvSpPr>
          <p:cNvPr id="11" name="Dot"/>
          <p:cNvSpPr/>
          <p:nvPr/>
        </p:nvSpPr>
        <p:spPr>
          <a:xfrm>
            <a:off x="658368" y="4736592"/>
            <a:ext cx="128016" cy="128016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" y="46451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Onayla / İptal Et</a:t>
            </a:r>
            <a:endParaRPr lang="en-US" sz="1400" dirty="0"/>
          </a:p>
        </p:txBody>
      </p:sp>
      <p:sp>
        <p:nvSpPr>
          <p:cNvPr id="13" name="Dot"/>
          <p:cNvSpPr/>
          <p:nvPr/>
        </p:nvSpPr>
        <p:spPr>
          <a:xfrm>
            <a:off x="658368" y="5193792"/>
            <a:ext cx="128016" cy="128016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32688" y="51023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YENİ etiketi</a:t>
            </a:r>
            <a:endParaRPr lang="en-US" sz="1400" dirty="0"/>
          </a:p>
        </p:txBody>
      </p:sp>
      <p:sp>
        <p:nvSpPr>
          <p:cNvPr id="15" name="ShotFrame"/>
          <p:cNvSpPr/>
          <p:nvPr/>
        </p:nvSpPr>
        <p:spPr>
          <a:xfrm>
            <a:off x="5166360" y="1354455"/>
            <a:ext cx="6583680" cy="378333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77800" dist="50800" dir="5400000">
              <a:srgbClr val="0B2540">
                <a:alpha val="18000"/>
              </a:srgbClr>
            </a:outerShdw>
          </a:effectLst>
        </p:spPr>
      </p:sp>
      <p:pic>
        <p:nvPicPr>
          <p:cNvPr id="16" name="Screenshot" descr="Birime gelen talepl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445895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Yeni Tim İletişim Merkezi · Platform Tanıtımı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14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457200"/>
            <a:ext cx="548640" cy="54864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6DB5"/>
                </a:solidFill>
              </a:rPr>
              <a:t>GÖREV TAKIBI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0972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</a:rPr>
              <a:t>Görevler ve personel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66928" y="2167128"/>
            <a:ext cx="5495544" cy="3155252"/>
          </a:xfrm>
          <a:prstGeom prst="roundRect">
            <a:avLst>
              <a:gd name="adj" fmla="val 2898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52400" dist="38100" dir="5400000">
              <a:srgbClr val="0B2540">
                <a:alpha val="16000"/>
              </a:srgbClr>
            </a:outerShdw>
          </a:effectLst>
        </p:spPr>
      </p:sp>
      <p:pic>
        <p:nvPicPr>
          <p:cNvPr id="9" name="Image 1" descr="Birimdeki görevl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40280"/>
            <a:ext cx="5349240" cy="30089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5450395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63D"/>
                </a:solidFill>
              </a:rPr>
              <a:t>Birimdeki görevler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577958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</a:rPr>
              <a:t>Talep kaynaklı ve rutin görevler birlikte listelenir.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190488" y="2167128"/>
            <a:ext cx="5495544" cy="3155252"/>
          </a:xfrm>
          <a:prstGeom prst="roundRect">
            <a:avLst>
              <a:gd name="adj" fmla="val 2898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52400" dist="38100" dir="5400000">
              <a:srgbClr val="0B2540">
                <a:alpha val="16000"/>
              </a:srgbClr>
            </a:outerShdw>
          </a:effectLst>
        </p:spPr>
      </p:sp>
      <p:pic>
        <p:nvPicPr>
          <p:cNvPr id="13" name="Image 2" descr="Görev detayı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240280"/>
            <a:ext cx="5349240" cy="30089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263640" y="5450395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63D"/>
                </a:solidFill>
              </a:rPr>
              <a:t>Görev detayı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6263640" y="577958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</a:rPr>
              <a:t>Süreç, son tarih ve düzenleme geçmişi.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40080" y="1691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</a:rPr>
              <a:t>Onaylanan talepler görevlere dönüşür ve tamamlanana kadar izlenir.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Yeni Tim İletişim Merkezi · Platform Tanıtımı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457200"/>
            <a:ext cx="548640" cy="54864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6DB5"/>
                </a:solidFill>
              </a:rPr>
              <a:t>OPERASYON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0972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</a:rPr>
              <a:t>İzleme ekranı ve anlık mesajlaşma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66928" y="2167128"/>
            <a:ext cx="5495544" cy="3155252"/>
          </a:xfrm>
          <a:prstGeom prst="roundRect">
            <a:avLst>
              <a:gd name="adj" fmla="val 2898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52400" dist="38100" dir="5400000">
              <a:srgbClr val="0B2540">
                <a:alpha val="16000"/>
              </a:srgbClr>
            </a:outerShdw>
          </a:effectLst>
        </p:spPr>
      </p:sp>
      <p:pic>
        <p:nvPicPr>
          <p:cNvPr id="9" name="Image 1" descr="İzleme ekranı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40280"/>
            <a:ext cx="5349240" cy="30089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5450395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63D"/>
                </a:solidFill>
              </a:rPr>
              <a:t>İzleme ekranı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577958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</a:rPr>
              <a:t>Operasyon odası için canlı talep ve görev panosu.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190488" y="2167128"/>
            <a:ext cx="5495544" cy="3155252"/>
          </a:xfrm>
          <a:prstGeom prst="roundRect">
            <a:avLst>
              <a:gd name="adj" fmla="val 2898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52400" dist="38100" dir="5400000">
              <a:srgbClr val="0B2540">
                <a:alpha val="16000"/>
              </a:srgbClr>
            </a:outerShdw>
          </a:effectLst>
        </p:spPr>
      </p:sp>
      <p:pic>
        <p:nvPicPr>
          <p:cNvPr id="13" name="Image 2" descr="Kurum içi mesajl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240280"/>
            <a:ext cx="5349240" cy="30089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263640" y="5450395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63D"/>
                </a:solidFill>
              </a:rPr>
              <a:t>Kurum içi mesajlar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6263640" y="577958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</a:rPr>
              <a:t>Personel arası anlık mesaj paneli.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40080" y="1691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</a:rPr>
              <a:t>Canlı görünürlük ve hızlı iç iletişim.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34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0"/>
                </a:solidFill>
              </a:rPr>
              <a:t>Yeni Tim İletişim Merkezi · Platform Tanıtımı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0"/>
                </a:solidFill>
              </a:rPr>
              <a:t>16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544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2F6DB5"/>
                </a:solidFill>
              </a:rPr>
              <a:t>03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004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Ortak altyapı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160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9CBE0"/>
                </a:solidFill>
              </a:rPr>
              <a:t>Hangi modül seçilirse seçilsin, yönetim ve güvenlik altyapısı hazır gelir.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Yeni Tim İletişim Merkezi · Platform Tanıtımı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17</a:t>
            </a:r>
            <a:endParaRPr lang="en-US" sz="1000" dirty="0"/>
          </a:p>
        </p:txBody>
      </p:sp>
      <p:sp>
        <p:nvSpPr>
          <p:cNvPr id="4" name="IconBadge"/>
          <p:cNvSpPr/>
          <p:nvPr/>
        </p:nvSpPr>
        <p:spPr>
          <a:xfrm>
            <a:off x="640080" y="685800"/>
            <a:ext cx="548640" cy="54864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8138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731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6DB5"/>
                </a:solidFill>
              </a:rPr>
              <a:t>YETKILENDIRME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46304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</a:rPr>
              <a:t>Rol bazlı yetkilendirme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260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</a:rPr>
              <a:t>Her rolün hangi sayfayı göreceği satır satır özelleştirilebilir.</a:t>
            </a:r>
            <a:endParaRPr lang="en-US" sz="1500" dirty="0"/>
          </a:p>
        </p:txBody>
      </p:sp>
      <p:sp>
        <p:nvSpPr>
          <p:cNvPr id="9" name="Dot"/>
          <p:cNvSpPr/>
          <p:nvPr/>
        </p:nvSpPr>
        <p:spPr>
          <a:xfrm>
            <a:off x="658368" y="4279392"/>
            <a:ext cx="128016" cy="128016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32688" y="41879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Yönetici, Personel, Operatör, Raportör</a:t>
            </a:r>
            <a:endParaRPr lang="en-US" sz="1400" dirty="0"/>
          </a:p>
        </p:txBody>
      </p:sp>
      <p:sp>
        <p:nvSpPr>
          <p:cNvPr id="11" name="Dot"/>
          <p:cNvSpPr/>
          <p:nvPr/>
        </p:nvSpPr>
        <p:spPr>
          <a:xfrm>
            <a:off x="658368" y="4736592"/>
            <a:ext cx="128016" cy="128016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" y="46451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Aktif / Pasif yetki matrisi</a:t>
            </a:r>
            <a:endParaRPr lang="en-US" sz="1400" dirty="0"/>
          </a:p>
        </p:txBody>
      </p:sp>
      <p:sp>
        <p:nvSpPr>
          <p:cNvPr id="13" name="Dot"/>
          <p:cNvSpPr/>
          <p:nvPr/>
        </p:nvSpPr>
        <p:spPr>
          <a:xfrm>
            <a:off x="658368" y="5193792"/>
            <a:ext cx="128016" cy="128016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32688" y="51023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Mobil uygulama yetkisi</a:t>
            </a:r>
            <a:endParaRPr lang="en-US" sz="1400" dirty="0"/>
          </a:p>
        </p:txBody>
      </p:sp>
      <p:sp>
        <p:nvSpPr>
          <p:cNvPr id="15" name="ShotFrame"/>
          <p:cNvSpPr/>
          <p:nvPr/>
        </p:nvSpPr>
        <p:spPr>
          <a:xfrm>
            <a:off x="5166360" y="1354455"/>
            <a:ext cx="6583680" cy="378333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77800" dist="50800" dir="5400000">
              <a:srgbClr val="0B2540">
                <a:alpha val="18000"/>
              </a:srgbClr>
            </a:outerShdw>
          </a:effectLst>
        </p:spPr>
      </p:sp>
      <p:pic>
        <p:nvPicPr>
          <p:cNvPr id="16" name="Screenshot" descr="Rol bazlı yetkilendirm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445895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Yeni Tim İletişim Merkezi · Platform Tanıtımı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18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457200"/>
            <a:ext cx="548640" cy="54864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6DB5"/>
                </a:solidFill>
              </a:rPr>
              <a:t>ORGANIZASYON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0972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</a:rPr>
              <a:t>Birim ve kullanıcı yönetimi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66928" y="2167128"/>
            <a:ext cx="5495544" cy="3155252"/>
          </a:xfrm>
          <a:prstGeom prst="roundRect">
            <a:avLst>
              <a:gd name="adj" fmla="val 2898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52400" dist="38100" dir="5400000">
              <a:srgbClr val="0B2540">
                <a:alpha val="16000"/>
              </a:srgbClr>
            </a:outerShdw>
          </a:effectLst>
        </p:spPr>
      </p:sp>
      <p:pic>
        <p:nvPicPr>
          <p:cNvPr id="9" name="Image 1" descr="Biriml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40280"/>
            <a:ext cx="5349240" cy="30089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5450395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63D"/>
                </a:solidFill>
              </a:rPr>
              <a:t>Birimler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577958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</a:rPr>
              <a:t>Müdürlük hiyerarşisi ve sorumlu yöneticiler.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190488" y="2167128"/>
            <a:ext cx="5495544" cy="3155252"/>
          </a:xfrm>
          <a:prstGeom prst="roundRect">
            <a:avLst>
              <a:gd name="adj" fmla="val 2898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52400" dist="38100" dir="5400000">
              <a:srgbClr val="0B2540">
                <a:alpha val="16000"/>
              </a:srgbClr>
            </a:outerShdw>
          </a:effectLst>
        </p:spPr>
      </p:sp>
      <p:pic>
        <p:nvPicPr>
          <p:cNvPr id="13" name="Image 2" descr="Kullanıcıl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240280"/>
            <a:ext cx="5349240" cy="30089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263640" y="5450395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63D"/>
                </a:solidFill>
              </a:rPr>
              <a:t>Kullanıcılar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6263640" y="577958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</a:rPr>
              <a:t>Rol, birim ve kaynak bilgisiyle kullanıcı listesi.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40080" y="1691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</a:rPr>
              <a:t>Müdürlükler, yöneticiler ve personel uygulama üzerinden yönetilir; LDAP / AD senkronizasyonu desteklenir.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Yeni Tim İletişim Merkezi · Platform Tanıtımı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19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457200"/>
            <a:ext cx="548640" cy="54864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6DB5"/>
                </a:solidFill>
              </a:rPr>
              <a:t>GÜVENLIK VE LISANS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0972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</a:rPr>
              <a:t>Denetim kayıtları ve modüler lisans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66928" y="2167128"/>
            <a:ext cx="5495544" cy="3155252"/>
          </a:xfrm>
          <a:prstGeom prst="roundRect">
            <a:avLst>
              <a:gd name="adj" fmla="val 2898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52400" dist="38100" dir="5400000">
              <a:srgbClr val="0B2540">
                <a:alpha val="16000"/>
              </a:srgbClr>
            </a:outerShdw>
          </a:effectLst>
        </p:spPr>
      </p:sp>
      <p:pic>
        <p:nvPicPr>
          <p:cNvPr id="9" name="Image 1" descr="Denetim kayıtları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40280"/>
            <a:ext cx="5349240" cy="30089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5450395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63D"/>
                </a:solidFill>
              </a:rPr>
              <a:t>Denetim kayıtları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577958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</a:rPr>
              <a:t>Kim, ne zaman, hangi kayıt üzerinde işlem yaptı.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190488" y="2167128"/>
            <a:ext cx="5495544" cy="3155252"/>
          </a:xfrm>
          <a:prstGeom prst="roundRect">
            <a:avLst>
              <a:gd name="adj" fmla="val 2898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52400" dist="38100" dir="5400000">
              <a:srgbClr val="0B2540">
                <a:alpha val="16000"/>
              </a:srgbClr>
            </a:outerShdw>
          </a:effectLst>
        </p:spPr>
      </p:sp>
      <p:pic>
        <p:nvPicPr>
          <p:cNvPr id="13" name="Image 2" descr="Lisans yönetim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240280"/>
            <a:ext cx="5349240" cy="30089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263640" y="5450395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63D"/>
                </a:solidFill>
              </a:rPr>
              <a:t>Lisans yönetimi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6263640" y="577958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</a:rPr>
              <a:t>Modül bazlı lisans durumu, geçerlilik tarihi ve kod girişi.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40080" y="1691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</a:rPr>
              <a:t>Her kritik işlem izlenir; modüller sunucu tarafında doğrulanan lisansla etkinleşir.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Yeni Tim İletişim Merkezi · Platform Tanıtımı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20</a:t>
            </a:r>
            <a:endParaRPr lang="en-US" sz="1000" dirty="0"/>
          </a:p>
        </p:txBody>
      </p:sp>
      <p:sp>
        <p:nvSpPr>
          <p:cNvPr id="4" name="IconBadge"/>
          <p:cNvSpPr/>
          <p:nvPr/>
        </p:nvSpPr>
        <p:spPr>
          <a:xfrm>
            <a:off x="640080" y="685800"/>
            <a:ext cx="548640" cy="54864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8138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731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6DB5"/>
                </a:solidFill>
              </a:rPr>
              <a:t>KURUMSAL AYARLAR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46304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</a:rPr>
              <a:t>Ayarlar tek ekranda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260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</a:rPr>
              <a:t>SLA süreleri, hafta sonu kuralları, SMS ve sosyal medya entegrasyon anahtarları merkezi olarak yönetilir.</a:t>
            </a:r>
            <a:endParaRPr lang="en-US" sz="1500" dirty="0"/>
          </a:p>
        </p:txBody>
      </p:sp>
      <p:sp>
        <p:nvSpPr>
          <p:cNvPr id="9" name="Dot"/>
          <p:cNvSpPr/>
          <p:nvPr/>
        </p:nvSpPr>
        <p:spPr>
          <a:xfrm>
            <a:off x="658368" y="4279392"/>
            <a:ext cx="128016" cy="128016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32688" y="41879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Varsayılan SLA ve hafta sonu kuralı</a:t>
            </a:r>
            <a:endParaRPr lang="en-US" sz="1400" dirty="0"/>
          </a:p>
        </p:txBody>
      </p:sp>
      <p:sp>
        <p:nvSpPr>
          <p:cNvPr id="11" name="Dot"/>
          <p:cNvSpPr/>
          <p:nvPr/>
        </p:nvSpPr>
        <p:spPr>
          <a:xfrm>
            <a:off x="658368" y="4736592"/>
            <a:ext cx="128016" cy="128016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" y="46451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SMS sağlayıcı ayarı</a:t>
            </a:r>
            <a:endParaRPr lang="en-US" sz="1400" dirty="0"/>
          </a:p>
        </p:txBody>
      </p:sp>
      <p:sp>
        <p:nvSpPr>
          <p:cNvPr id="13" name="Dot"/>
          <p:cNvSpPr/>
          <p:nvPr/>
        </p:nvSpPr>
        <p:spPr>
          <a:xfrm>
            <a:off x="658368" y="5193792"/>
            <a:ext cx="128016" cy="128016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32688" y="51023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Otomatik yönlendirme ve mail bildirimi</a:t>
            </a:r>
            <a:endParaRPr lang="en-US" sz="1400" dirty="0"/>
          </a:p>
        </p:txBody>
      </p:sp>
      <p:sp>
        <p:nvSpPr>
          <p:cNvPr id="15" name="ShotFrame"/>
          <p:cNvSpPr/>
          <p:nvPr/>
        </p:nvSpPr>
        <p:spPr>
          <a:xfrm>
            <a:off x="5166360" y="1354455"/>
            <a:ext cx="6583680" cy="378333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77800" dist="50800" dir="5400000">
              <a:srgbClr val="0B2540">
                <a:alpha val="18000"/>
              </a:srgbClr>
            </a:outerShdw>
          </a:effectLst>
        </p:spPr>
      </p:sp>
      <p:pic>
        <p:nvPicPr>
          <p:cNvPr id="16" name="Screenshot" descr="Ayarlar tek ekrand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445895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Yeni Tim İletişim Merkezi · Platform Tanıtımı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21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6DB5"/>
                </a:solidFill>
              </a:rPr>
              <a:t>NEDEN YENI TIM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4263D"/>
                </a:solidFill>
              </a:rPr>
              <a:t>Belediye iş akışına özel tasarlandı</a:t>
            </a:r>
            <a:endParaRPr lang="en-US" sz="3200" dirty="0"/>
          </a:p>
        </p:txBody>
      </p:sp>
      <p:sp>
        <p:nvSpPr>
          <p:cNvPr id="6" name="Card"/>
          <p:cNvSpPr/>
          <p:nvPr/>
        </p:nvSpPr>
        <p:spPr>
          <a:xfrm>
            <a:off x="640080" y="2011680"/>
            <a:ext cx="3453384" cy="1943100"/>
          </a:xfrm>
          <a:prstGeom prst="roundRect">
            <a:avLst>
              <a:gd name="adj" fmla="val 5647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286000"/>
            <a:ext cx="548640" cy="548640"/>
          </a:xfrm>
          <a:prstGeom prst="ellipse">
            <a:avLst/>
          </a:prstGeom>
          <a:solidFill>
            <a:srgbClr val="DCEBFA"/>
          </a:solidFill>
          <a:ln w="12700">
            <a:solidFill>
              <a:srgbClr val="DCEBFA">
                <a:alpha val="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432304"/>
            <a:ext cx="256032" cy="2560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0200" y="2286000"/>
            <a:ext cx="2310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63D"/>
                </a:solidFill>
              </a:rPr>
              <a:t>Modüler lisanslama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2971800"/>
            <a:ext cx="2904744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</a:rPr>
              <a:t>Yalnızca ihtiyacınız olan ürünü alın, sonradan genişletin.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4367784" y="2011680"/>
            <a:ext cx="3453384" cy="1943100"/>
          </a:xfrm>
          <a:prstGeom prst="roundRect">
            <a:avLst>
              <a:gd name="adj" fmla="val 5647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42104" y="2286000"/>
            <a:ext cx="548640" cy="548640"/>
          </a:xfrm>
          <a:prstGeom prst="ellipse">
            <a:avLst/>
          </a:prstGeom>
          <a:solidFill>
            <a:srgbClr val="DCEBFA"/>
          </a:solidFill>
          <a:ln w="12700">
            <a:solidFill>
              <a:srgbClr val="DCEBFA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408" y="243230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27904" y="2286000"/>
            <a:ext cx="2310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63D"/>
                </a:solidFill>
              </a:rPr>
              <a:t>Çoklu belediye mimarisi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4642104" y="2971800"/>
            <a:ext cx="2904744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</a:rPr>
              <a:t>Her kurumun verisi izole; aynı altyapı birden fazla belediyeye hizmet verebilir.</a:t>
            </a:r>
            <a:endParaRPr lang="en-US" sz="1300" dirty="0"/>
          </a:p>
        </p:txBody>
      </p:sp>
      <p:sp>
        <p:nvSpPr>
          <p:cNvPr id="16" name="Card"/>
          <p:cNvSpPr/>
          <p:nvPr/>
        </p:nvSpPr>
        <p:spPr>
          <a:xfrm>
            <a:off x="8095488" y="2011680"/>
            <a:ext cx="3453384" cy="1943100"/>
          </a:xfrm>
          <a:prstGeom prst="roundRect">
            <a:avLst>
              <a:gd name="adj" fmla="val 5647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69808" y="2286000"/>
            <a:ext cx="548640" cy="548640"/>
          </a:xfrm>
          <a:prstGeom prst="ellipse">
            <a:avLst/>
          </a:prstGeom>
          <a:solidFill>
            <a:srgbClr val="DCEBFA"/>
          </a:solidFill>
          <a:ln w="12700">
            <a:solidFill>
              <a:srgbClr val="DCEBFA">
                <a:alpha val="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6112" y="2432304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55608" y="2286000"/>
            <a:ext cx="2310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63D"/>
                </a:solidFill>
              </a:rPr>
              <a:t>Modern altyapı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8369808" y="2971800"/>
            <a:ext cx="2904744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</a:rPr>
              <a:t>Güncel, ölçeklenebilir teknoloji yığını; büyüyen veri ve kullanıcıya uyum.</a:t>
            </a:r>
            <a:endParaRPr lang="en-US" sz="1300" dirty="0"/>
          </a:p>
        </p:txBody>
      </p:sp>
      <p:sp>
        <p:nvSpPr>
          <p:cNvPr id="21" name="Card"/>
          <p:cNvSpPr/>
          <p:nvPr/>
        </p:nvSpPr>
        <p:spPr>
          <a:xfrm>
            <a:off x="640080" y="4229100"/>
            <a:ext cx="3453384" cy="1943100"/>
          </a:xfrm>
          <a:prstGeom prst="roundRect">
            <a:avLst>
              <a:gd name="adj" fmla="val 5647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14400" y="4503420"/>
            <a:ext cx="548640" cy="548640"/>
          </a:xfrm>
          <a:prstGeom prst="ellipse">
            <a:avLst/>
          </a:prstGeom>
          <a:solidFill>
            <a:srgbClr val="DCEBFA"/>
          </a:solidFill>
          <a:ln w="12700">
            <a:solidFill>
              <a:srgbClr val="DCEBFA">
                <a:alpha val="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4649724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00200" y="4503420"/>
            <a:ext cx="2310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63D"/>
                </a:solidFill>
              </a:rPr>
              <a:t>Türkçe süreç ve dil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914400" y="5189220"/>
            <a:ext cx="2904744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</a:rPr>
              <a:t>Arayüz, onay metinleri ve hata mesajları uçtan uca Türkçe.</a:t>
            </a:r>
            <a:endParaRPr lang="en-US" sz="1300" dirty="0"/>
          </a:p>
        </p:txBody>
      </p:sp>
      <p:sp>
        <p:nvSpPr>
          <p:cNvPr id="26" name="Card"/>
          <p:cNvSpPr/>
          <p:nvPr/>
        </p:nvSpPr>
        <p:spPr>
          <a:xfrm>
            <a:off x="4367784" y="4229100"/>
            <a:ext cx="3453384" cy="1943100"/>
          </a:xfrm>
          <a:prstGeom prst="roundRect">
            <a:avLst>
              <a:gd name="adj" fmla="val 5647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42104" y="4503420"/>
            <a:ext cx="548640" cy="548640"/>
          </a:xfrm>
          <a:prstGeom prst="ellipse">
            <a:avLst/>
          </a:prstGeom>
          <a:solidFill>
            <a:srgbClr val="DCEBFA"/>
          </a:solidFill>
          <a:ln w="12700">
            <a:solidFill>
              <a:srgbClr val="DCEBFA">
                <a:alpha val="0"/>
              </a:srgbClr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8408" y="4649724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27904" y="4503420"/>
            <a:ext cx="2310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63D"/>
                </a:solidFill>
              </a:rPr>
              <a:t>Güvenlik ve denetim</a:t>
            </a:r>
            <a:endParaRPr lang="en-US" sz="1700" dirty="0"/>
          </a:p>
        </p:txBody>
      </p:sp>
      <p:sp>
        <p:nvSpPr>
          <p:cNvPr id="30" name="Text 23"/>
          <p:cNvSpPr txBox="1"/>
          <p:nvPr/>
        </p:nvSpPr>
        <p:spPr>
          <a:xfrm>
            <a:off x="4642104" y="5189220"/>
            <a:ext cx="2904744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</a:rPr>
              <a:t>Rol bazlı yetki, denetim kaydı ve LDAP / yerel kullanıcı desteği.</a:t>
            </a:r>
            <a:endParaRPr lang="en-US" sz="1300" dirty="0"/>
          </a:p>
        </p:txBody>
      </p:sp>
      <p:sp>
        <p:nvSpPr>
          <p:cNvPr id="31" name="Card"/>
          <p:cNvSpPr/>
          <p:nvPr/>
        </p:nvSpPr>
        <p:spPr>
          <a:xfrm>
            <a:off x="8095488" y="4229100"/>
            <a:ext cx="3453384" cy="1943100"/>
          </a:xfrm>
          <a:prstGeom prst="roundRect">
            <a:avLst>
              <a:gd name="adj" fmla="val 5647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0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69808" y="4503420"/>
            <a:ext cx="548640" cy="548640"/>
          </a:xfrm>
          <a:prstGeom prst="ellipse">
            <a:avLst/>
          </a:prstGeom>
          <a:solidFill>
            <a:srgbClr val="DCEBFA"/>
          </a:solidFill>
          <a:ln w="12700">
            <a:solidFill>
              <a:srgbClr val="DCEBFA">
                <a:alpha val="0"/>
              </a:srgbClr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6112" y="4649724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055608" y="4503420"/>
            <a:ext cx="2310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63D"/>
                </a:solidFill>
              </a:rPr>
              <a:t>Kanıtlanmış kullanım</a:t>
            </a:r>
            <a:endParaRPr lang="en-US" sz="1700" dirty="0"/>
          </a:p>
        </p:txBody>
      </p:sp>
      <p:sp>
        <p:nvSpPr>
          <p:cNvPr id="35" name="Text 27"/>
          <p:cNvSpPr txBox="1"/>
          <p:nvPr/>
        </p:nvSpPr>
        <p:spPr>
          <a:xfrm>
            <a:off x="8369808" y="5189220"/>
            <a:ext cx="2904744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</a:rPr>
              <a:t>Tire Belediyesi’nde canlı olarak günlük operasyonda kullanılmaktadır.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474720"/>
            <a:ext cx="6400800" cy="6400800"/>
          </a:xfrm>
          <a:prstGeom prst="ellipse">
            <a:avLst/>
          </a:prstGeom>
          <a:solidFill>
            <a:srgbClr val="2F6DB5">
              <a:alpha val="15000"/>
            </a:srgbClr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</p:sp>
      <p:pic>
        <p:nvPicPr>
          <p:cNvPr id="3" name="Logo" descr="Lumespe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2194560" cy="4661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1945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Birlikte başlayalım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38328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9CBE0"/>
                </a:solidFill>
              </a:rPr>
              <a:t>Kurumunuza en uygun modül kombinasyonunu belirleyelim ve canlı bir demo ile sistemi birlikte gezelim.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8463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İletişim: destek@lumespec.com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Yeni Tim">
  <a:themeElements>
    <a:clrScheme name="Yeni Tim">
      <a:dk1>
        <a:srgbClr val="14263D"/>
      </a:dk1>
      <a:lt1>
        <a:srgbClr val="FFFFFF"/>
      </a:lt1>
      <a:dk2>
        <a:srgbClr val="0B2540"/>
      </a:dk2>
      <a:lt2>
        <a:srgbClr val="F3F6FA"/>
      </a:lt2>
      <a:accent1>
        <a:srgbClr val="2F6DB5"/>
      </a:accent1>
      <a:accent2>
        <a:srgbClr val="12A37A"/>
      </a:accent2>
      <a:accent3>
        <a:srgbClr val="3B82F6"/>
      </a:accent3>
      <a:accent4>
        <a:srgbClr val="F59E0B"/>
      </a:accent4>
      <a:accent5>
        <a:srgbClr val="5B6B7F"/>
      </a:accent5>
      <a:accent6>
        <a:srgbClr val="DCEBFA"/>
      </a:accent6>
      <a:hlink>
        <a:srgbClr val="2F6DB5"/>
      </a:hlink>
      <a:folHlink>
        <a:srgbClr val="5B6B7F"/>
      </a:folHlink>
    </a:clrScheme>
    <a:fontScheme name="Yeni Tim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Lumespec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Yeni Tim İletişim Merkezi</dc:title>
  <dc:subject>PptxGenJS Presentation</dc:subject>
  <dc:creator>Lumespec</dc:creator>
  <cp:lastModifiedBy>Lumespec</cp:lastModifiedBy>
  <cp:revision>1</cp:revision>
  <dcterms:created xsi:type="dcterms:W3CDTF">2026-10-02T18:02:15Z</dcterms:created>
  <dcterms:modified xsi:type="dcterms:W3CDTF">2026-10-02T18:02:15Z</dcterms:modified>
</cp:coreProperties>
</file>